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2" autoAdjust="0"/>
    <p:restoredTop sz="94660"/>
  </p:normalViewPr>
  <p:slideViewPr>
    <p:cSldViewPr snapToGrid="0" snapToObjects="1">
      <p:cViewPr varScale="1">
        <p:scale>
          <a:sx n="59" d="100"/>
          <a:sy n="59" d="100"/>
        </p:scale>
        <p:origin x="1092"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c:v>
                </c:pt>
              </c:strCache>
            </c:strRef>
          </c:tx>
          <c:invertIfNegative val="1"/>
          <c:cat>
            <c:strRef>
              <c:f>Sheet1!$A$2:$A$5</c:f>
              <c:strCache>
                <c:ptCount val="4"/>
                <c:pt idx="0">
                  <c:v>2020</c:v>
                </c:pt>
                <c:pt idx="1">
                  <c:v>2021</c:v>
                </c:pt>
                <c:pt idx="2">
                  <c:v>2022</c:v>
                </c:pt>
                <c:pt idx="3">
                  <c:v>2023</c:v>
                </c:pt>
              </c:strCache>
            </c:strRef>
          </c:cat>
          <c:val>
            <c:numRef>
              <c:f>Sheet1!$B$2:$B$5</c:f>
              <c:numCache>
                <c:formatCode>General</c:formatCode>
                <c:ptCount val="4"/>
                <c:pt idx="0">
                  <c:v>483966.19</c:v>
                </c:pt>
                <c:pt idx="1">
                  <c:v>470532.46</c:v>
                </c:pt>
                <c:pt idx="2">
                  <c:v>609205.86</c:v>
                </c:pt>
                <c:pt idx="3">
                  <c:v>733215.19</c:v>
                </c:pt>
              </c:numCache>
            </c:numRef>
          </c:val>
          <c:extLst>
            <c:ext xmlns:c16="http://schemas.microsoft.com/office/drawing/2014/chart" uri="{C3380CC4-5D6E-409C-BE32-E72D297353CC}">
              <c16:uniqueId val="{00000000-A971-4C08-AE1F-60A81D64711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Profit</c:v>
                </c:pt>
              </c:strCache>
            </c:strRef>
          </c:tx>
          <c:invertIfNegative val="1"/>
          <c:cat>
            <c:strRef>
              <c:f>Sheet1!$A$2:$A$5</c:f>
              <c:strCache>
                <c:ptCount val="4"/>
                <c:pt idx="0">
                  <c:v>2020</c:v>
                </c:pt>
                <c:pt idx="1">
                  <c:v>2021</c:v>
                </c:pt>
                <c:pt idx="2">
                  <c:v>2022</c:v>
                </c:pt>
                <c:pt idx="3">
                  <c:v>2023</c:v>
                </c:pt>
              </c:strCache>
            </c:strRef>
          </c:cat>
          <c:val>
            <c:numRef>
              <c:f>Sheet1!$B$2:$B$5</c:f>
              <c:numCache>
                <c:formatCode>General</c:formatCode>
                <c:ptCount val="4"/>
                <c:pt idx="0">
                  <c:v>49556.12</c:v>
                </c:pt>
                <c:pt idx="1">
                  <c:v>61618.69</c:v>
                </c:pt>
                <c:pt idx="2">
                  <c:v>81795.27</c:v>
                </c:pt>
                <c:pt idx="3">
                  <c:v>93439.77</c:v>
                </c:pt>
              </c:numCache>
            </c:numRef>
          </c:val>
          <c:extLst>
            <c:ext xmlns:c16="http://schemas.microsoft.com/office/drawing/2014/chart" uri="{C3380CC4-5D6E-409C-BE32-E72D297353CC}">
              <c16:uniqueId val="{00000000-3466-4907-B393-5CE90C7A719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Sales</c:v>
                </c:pt>
              </c:strCache>
            </c:strRef>
          </c:tx>
          <c:cat>
            <c:strRef>
              <c:f>Sheet1!$A$2:$A$49</c:f>
              <c:strCache>
                <c:ptCount val="48"/>
                <c:pt idx="0">
                  <c:v>2020-01</c:v>
                </c:pt>
                <c:pt idx="1">
                  <c:v>2020-02</c:v>
                </c:pt>
                <c:pt idx="2">
                  <c:v>2020-03</c:v>
                </c:pt>
                <c:pt idx="3">
                  <c:v>2020-04</c:v>
                </c:pt>
                <c:pt idx="4">
                  <c:v>2020-05</c:v>
                </c:pt>
                <c:pt idx="5">
                  <c:v>2020-06</c:v>
                </c:pt>
                <c:pt idx="6">
                  <c:v>2020-07</c:v>
                </c:pt>
                <c:pt idx="7">
                  <c:v>2020-08</c:v>
                </c:pt>
                <c:pt idx="8">
                  <c:v>2020-09</c:v>
                </c:pt>
                <c:pt idx="9">
                  <c:v>2020-10</c:v>
                </c:pt>
                <c:pt idx="10">
                  <c:v>2020-11</c:v>
                </c:pt>
                <c:pt idx="11">
                  <c:v>2020-12</c:v>
                </c:pt>
                <c:pt idx="12">
                  <c:v>2021-01</c:v>
                </c:pt>
                <c:pt idx="13">
                  <c:v>2021-02</c:v>
                </c:pt>
                <c:pt idx="14">
                  <c:v>2021-03</c:v>
                </c:pt>
                <c:pt idx="15">
                  <c:v>2021-04</c:v>
                </c:pt>
                <c:pt idx="16">
                  <c:v>2021-05</c:v>
                </c:pt>
                <c:pt idx="17">
                  <c:v>2021-06</c:v>
                </c:pt>
                <c:pt idx="18">
                  <c:v>2021-07</c:v>
                </c:pt>
                <c:pt idx="19">
                  <c:v>2021-08</c:v>
                </c:pt>
                <c:pt idx="20">
                  <c:v>2021-09</c:v>
                </c:pt>
                <c:pt idx="21">
                  <c:v>2021-10</c:v>
                </c:pt>
                <c:pt idx="22">
                  <c:v>2021-11</c:v>
                </c:pt>
                <c:pt idx="23">
                  <c:v>2021-12</c:v>
                </c:pt>
                <c:pt idx="24">
                  <c:v>2022-01</c:v>
                </c:pt>
                <c:pt idx="25">
                  <c:v>2022-02</c:v>
                </c:pt>
                <c:pt idx="26">
                  <c:v>2022-03</c:v>
                </c:pt>
                <c:pt idx="27">
                  <c:v>2022-04</c:v>
                </c:pt>
                <c:pt idx="28">
                  <c:v>2022-05</c:v>
                </c:pt>
                <c:pt idx="29">
                  <c:v>2022-06</c:v>
                </c:pt>
                <c:pt idx="30">
                  <c:v>2022-07</c:v>
                </c:pt>
                <c:pt idx="31">
                  <c:v>2022-08</c:v>
                </c:pt>
                <c:pt idx="32">
                  <c:v>2022-09</c:v>
                </c:pt>
                <c:pt idx="33">
                  <c:v>2022-10</c:v>
                </c:pt>
                <c:pt idx="34">
                  <c:v>2022-11</c:v>
                </c:pt>
                <c:pt idx="35">
                  <c:v>2022-12</c:v>
                </c:pt>
                <c:pt idx="36">
                  <c:v>2023-01</c:v>
                </c:pt>
                <c:pt idx="37">
                  <c:v>2023-02</c:v>
                </c:pt>
                <c:pt idx="38">
                  <c:v>2023-03</c:v>
                </c:pt>
                <c:pt idx="39">
                  <c:v>2023-04</c:v>
                </c:pt>
                <c:pt idx="40">
                  <c:v>2023-05</c:v>
                </c:pt>
                <c:pt idx="41">
                  <c:v>2023-06</c:v>
                </c:pt>
                <c:pt idx="42">
                  <c:v>2023-07</c:v>
                </c:pt>
                <c:pt idx="43">
                  <c:v>2023-08</c:v>
                </c:pt>
                <c:pt idx="44">
                  <c:v>2023-09</c:v>
                </c:pt>
                <c:pt idx="45">
                  <c:v>2023-10</c:v>
                </c:pt>
                <c:pt idx="46">
                  <c:v>2023-11</c:v>
                </c:pt>
                <c:pt idx="47">
                  <c:v>2023-12</c:v>
                </c:pt>
              </c:strCache>
            </c:strRef>
          </c:cat>
          <c:val>
            <c:numRef>
              <c:f>Sheet1!$B$2:$B$49</c:f>
              <c:numCache>
                <c:formatCode>General</c:formatCode>
                <c:ptCount val="48"/>
                <c:pt idx="0">
                  <c:v>14236.9</c:v>
                </c:pt>
                <c:pt idx="1">
                  <c:v>4519.92</c:v>
                </c:pt>
                <c:pt idx="2">
                  <c:v>55691.040000000001</c:v>
                </c:pt>
                <c:pt idx="3">
                  <c:v>28013.98</c:v>
                </c:pt>
                <c:pt idx="4">
                  <c:v>23648.28</c:v>
                </c:pt>
                <c:pt idx="5">
                  <c:v>34595.14</c:v>
                </c:pt>
                <c:pt idx="6">
                  <c:v>33946.370000000003</c:v>
                </c:pt>
                <c:pt idx="7">
                  <c:v>27909.47</c:v>
                </c:pt>
                <c:pt idx="8">
                  <c:v>81777.34</c:v>
                </c:pt>
                <c:pt idx="9">
                  <c:v>31453.37</c:v>
                </c:pt>
                <c:pt idx="10">
                  <c:v>78628.740000000005</c:v>
                </c:pt>
                <c:pt idx="11">
                  <c:v>69545.64</c:v>
                </c:pt>
                <c:pt idx="12">
                  <c:v>18174.080000000002</c:v>
                </c:pt>
                <c:pt idx="13">
                  <c:v>11951.4</c:v>
                </c:pt>
                <c:pt idx="14">
                  <c:v>38726.26</c:v>
                </c:pt>
                <c:pt idx="15">
                  <c:v>34195.25</c:v>
                </c:pt>
                <c:pt idx="16">
                  <c:v>30131.72</c:v>
                </c:pt>
                <c:pt idx="17">
                  <c:v>24797.31</c:v>
                </c:pt>
                <c:pt idx="18">
                  <c:v>28765.32</c:v>
                </c:pt>
                <c:pt idx="19">
                  <c:v>36898.32</c:v>
                </c:pt>
                <c:pt idx="20">
                  <c:v>64595.87</c:v>
                </c:pt>
                <c:pt idx="21">
                  <c:v>31404.9</c:v>
                </c:pt>
                <c:pt idx="22">
                  <c:v>75972.509999999995</c:v>
                </c:pt>
                <c:pt idx="23">
                  <c:v>74919.520000000004</c:v>
                </c:pt>
                <c:pt idx="24">
                  <c:v>18542.52</c:v>
                </c:pt>
                <c:pt idx="25">
                  <c:v>22978.82</c:v>
                </c:pt>
                <c:pt idx="26">
                  <c:v>51715.86</c:v>
                </c:pt>
                <c:pt idx="27">
                  <c:v>38750.04</c:v>
                </c:pt>
                <c:pt idx="28">
                  <c:v>56987.75</c:v>
                </c:pt>
                <c:pt idx="29">
                  <c:v>40344.54</c:v>
                </c:pt>
                <c:pt idx="30">
                  <c:v>39261.99</c:v>
                </c:pt>
                <c:pt idx="31">
                  <c:v>31115.35</c:v>
                </c:pt>
                <c:pt idx="32">
                  <c:v>73410.09</c:v>
                </c:pt>
                <c:pt idx="33">
                  <c:v>59687.8</c:v>
                </c:pt>
                <c:pt idx="34">
                  <c:v>79412.03</c:v>
                </c:pt>
                <c:pt idx="35">
                  <c:v>96999.07</c:v>
                </c:pt>
                <c:pt idx="36">
                  <c:v>43971.37</c:v>
                </c:pt>
                <c:pt idx="37">
                  <c:v>20301.12</c:v>
                </c:pt>
                <c:pt idx="38">
                  <c:v>58872.35</c:v>
                </c:pt>
                <c:pt idx="39">
                  <c:v>36521.519999999997</c:v>
                </c:pt>
                <c:pt idx="40">
                  <c:v>44261.08</c:v>
                </c:pt>
                <c:pt idx="41">
                  <c:v>52981.73</c:v>
                </c:pt>
                <c:pt idx="42">
                  <c:v>45264.43</c:v>
                </c:pt>
                <c:pt idx="43">
                  <c:v>63120.85</c:v>
                </c:pt>
                <c:pt idx="44">
                  <c:v>87866.66</c:v>
                </c:pt>
                <c:pt idx="45">
                  <c:v>77776.959999999992</c:v>
                </c:pt>
                <c:pt idx="46">
                  <c:v>118447.81</c:v>
                </c:pt>
                <c:pt idx="47">
                  <c:v>83829.31</c:v>
                </c:pt>
              </c:numCache>
            </c:numRef>
          </c:val>
          <c:smooth val="0"/>
          <c:extLst>
            <c:ext xmlns:c16="http://schemas.microsoft.com/office/drawing/2014/chart" uri="{C3380CC4-5D6E-409C-BE32-E72D297353CC}">
              <c16:uniqueId val="{00000000-5327-4D2D-83EE-F5329DCB8C9D}"/>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800"/>
            </a:pPr>
            <a:endParaRPr lang="en-US"/>
          </a:p>
        </c:txPr>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Sales</c:v>
                </c:pt>
              </c:strCache>
            </c:strRef>
          </c:tx>
          <c:invertIfNegative val="1"/>
          <c:cat>
            <c:strRef>
              <c:f>Sheet1!$A$2:$A$9</c:f>
              <c:strCache>
                <c:ptCount val="8"/>
                <c:pt idx="0">
                  <c:v>New Delhi</c:v>
                </c:pt>
                <c:pt idx="1">
                  <c:v>Bihar</c:v>
                </c:pt>
                <c:pt idx="2">
                  <c:v>Himachal Pradesh</c:v>
                </c:pt>
                <c:pt idx="3">
                  <c:v>Odisha</c:v>
                </c:pt>
                <c:pt idx="4">
                  <c:v>Kerala</c:v>
                </c:pt>
                <c:pt idx="5">
                  <c:v>Meghalaya</c:v>
                </c:pt>
                <c:pt idx="6">
                  <c:v>Goa</c:v>
                </c:pt>
                <c:pt idx="7">
                  <c:v>Madhya Pradesh</c:v>
                </c:pt>
              </c:strCache>
            </c:strRef>
          </c:cat>
          <c:val>
            <c:numRef>
              <c:f>Sheet1!$B$2:$B$9</c:f>
              <c:numCache>
                <c:formatCode>General</c:formatCode>
                <c:ptCount val="8"/>
                <c:pt idx="0">
                  <c:v>502576.82</c:v>
                </c:pt>
                <c:pt idx="1">
                  <c:v>457687.68</c:v>
                </c:pt>
                <c:pt idx="2">
                  <c:v>205985.75</c:v>
                </c:pt>
                <c:pt idx="3">
                  <c:v>162346.81</c:v>
                </c:pt>
                <c:pt idx="4">
                  <c:v>137084.81</c:v>
                </c:pt>
                <c:pt idx="5">
                  <c:v>116157.84</c:v>
                </c:pt>
                <c:pt idx="6">
                  <c:v>91361.2</c:v>
                </c:pt>
                <c:pt idx="7">
                  <c:v>84217.279999999999</c:v>
                </c:pt>
              </c:numCache>
            </c:numRef>
          </c:val>
          <c:extLst>
            <c:ext xmlns:c16="http://schemas.microsoft.com/office/drawing/2014/chart" uri="{C3380CC4-5D6E-409C-BE32-E72D297353CC}">
              <c16:uniqueId val="{00000000-32A9-4BF1-8726-2C814805166E}"/>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c:v>
                </c:pt>
              </c:strCache>
            </c:strRef>
          </c:tx>
          <c:invertIfNegative val="1"/>
          <c:cat>
            <c:strRef>
              <c:f>Sheet1!$A$2:$A$4</c:f>
              <c:strCache>
                <c:ptCount val="3"/>
                <c:pt idx="0">
                  <c:v>Technology</c:v>
                </c:pt>
                <c:pt idx="1">
                  <c:v>Furniture</c:v>
                </c:pt>
                <c:pt idx="2">
                  <c:v>Office Supplies</c:v>
                </c:pt>
              </c:strCache>
            </c:strRef>
          </c:cat>
          <c:val>
            <c:numRef>
              <c:f>Sheet1!$B$2:$B$4</c:f>
              <c:numCache>
                <c:formatCode>General</c:formatCode>
                <c:ptCount val="3"/>
                <c:pt idx="0">
                  <c:v>836154.1</c:v>
                </c:pt>
                <c:pt idx="1">
                  <c:v>741718.61</c:v>
                </c:pt>
                <c:pt idx="2">
                  <c:v>719046.99</c:v>
                </c:pt>
              </c:numCache>
            </c:numRef>
          </c:val>
          <c:extLst>
            <c:ext xmlns:c16="http://schemas.microsoft.com/office/drawing/2014/chart" uri="{C3380CC4-5D6E-409C-BE32-E72D297353CC}">
              <c16:uniqueId val="{00000000-1E57-4C06-88DB-3849209B035D}"/>
            </c:ext>
          </c:extLst>
        </c:ser>
        <c:ser>
          <c:idx val="1"/>
          <c:order val="1"/>
          <c:tx>
            <c:strRef>
              <c:f>Sheet1!$C$1</c:f>
              <c:strCache>
                <c:ptCount val="1"/>
                <c:pt idx="0">
                  <c:v>Profit</c:v>
                </c:pt>
              </c:strCache>
            </c:strRef>
          </c:tx>
          <c:invertIfNegative val="1"/>
          <c:cat>
            <c:strRef>
              <c:f>Sheet1!$A$2:$A$4</c:f>
              <c:strCache>
                <c:ptCount val="3"/>
                <c:pt idx="0">
                  <c:v>Technology</c:v>
                </c:pt>
                <c:pt idx="1">
                  <c:v>Furniture</c:v>
                </c:pt>
                <c:pt idx="2">
                  <c:v>Office Supplies</c:v>
                </c:pt>
              </c:strCache>
            </c:strRef>
          </c:cat>
          <c:val>
            <c:numRef>
              <c:f>Sheet1!$C$2:$C$4</c:f>
              <c:numCache>
                <c:formatCode>General</c:formatCode>
                <c:ptCount val="3"/>
                <c:pt idx="0">
                  <c:v>145455.66</c:v>
                </c:pt>
                <c:pt idx="1">
                  <c:v>18463.310000000001</c:v>
                </c:pt>
                <c:pt idx="2">
                  <c:v>122490.88</c:v>
                </c:pt>
              </c:numCache>
            </c:numRef>
          </c:val>
          <c:extLst>
            <c:ext xmlns:c16="http://schemas.microsoft.com/office/drawing/2014/chart" uri="{C3380CC4-5D6E-409C-BE32-E72D297353CC}">
              <c16:uniqueId val="{00000001-1E57-4C06-88DB-3849209B035D}"/>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legend>
      <c:legendPos val="b"/>
      <c:layout>
        <c:manualLayout>
          <c:xMode val="edge"/>
          <c:yMode val="edge"/>
          <c:x val="0.34235211525978609"/>
          <c:y val="0.94418846817310742"/>
          <c:w val="0.31529576948042787"/>
          <c:h val="5.5811531826892802E-2"/>
        </c:manualLayout>
      </c:layout>
      <c:overlay val="1"/>
    </c:legend>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Profit</c:v>
                </c:pt>
              </c:strCache>
            </c:strRef>
          </c:tx>
          <c:invertIfNegative val="1"/>
          <c:cat>
            <c:strRef>
              <c:f>Sheet1!$A$2:$A$6</c:f>
              <c:strCache>
                <c:ptCount val="5"/>
                <c:pt idx="0">
                  <c:v>Tamara Chand</c:v>
                </c:pt>
                <c:pt idx="1">
                  <c:v>Raymond Buch</c:v>
                </c:pt>
                <c:pt idx="2">
                  <c:v>Sanjit Chand</c:v>
                </c:pt>
                <c:pt idx="3">
                  <c:v>Hunter Lopez</c:v>
                </c:pt>
                <c:pt idx="4">
                  <c:v>Adrian Barton</c:v>
                </c:pt>
              </c:strCache>
            </c:strRef>
          </c:cat>
          <c:val>
            <c:numRef>
              <c:f>Sheet1!$B$2:$B$6</c:f>
              <c:numCache>
                <c:formatCode>General</c:formatCode>
                <c:ptCount val="5"/>
                <c:pt idx="0">
                  <c:v>8981.32</c:v>
                </c:pt>
                <c:pt idx="1">
                  <c:v>6976.09</c:v>
                </c:pt>
                <c:pt idx="2">
                  <c:v>5757.4199999999992</c:v>
                </c:pt>
                <c:pt idx="3">
                  <c:v>5622.43</c:v>
                </c:pt>
                <c:pt idx="4">
                  <c:v>5444.81</c:v>
                </c:pt>
              </c:numCache>
            </c:numRef>
          </c:val>
          <c:extLst>
            <c:ext xmlns:c16="http://schemas.microsoft.com/office/drawing/2014/chart" uri="{C3380CC4-5D6E-409C-BE32-E72D297353CC}">
              <c16:uniqueId val="{00000000-131B-4098-B421-0C674B757ACF}"/>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Sales</c:v>
                </c:pt>
              </c:strCache>
            </c:strRef>
          </c:tx>
          <c:invertIfNegative val="1"/>
          <c:cat>
            <c:strRef>
              <c:f>Sheet1!$A$2:$A$11</c:f>
              <c:strCache>
                <c:ptCount val="10"/>
                <c:pt idx="0">
                  <c:v>Phones</c:v>
                </c:pt>
                <c:pt idx="1">
                  <c:v>Chairs</c:v>
                </c:pt>
                <c:pt idx="2">
                  <c:v>Storage</c:v>
                </c:pt>
                <c:pt idx="3">
                  <c:v>Tables</c:v>
                </c:pt>
                <c:pt idx="4">
                  <c:v>Binders</c:v>
                </c:pt>
                <c:pt idx="5">
                  <c:v>Machines</c:v>
                </c:pt>
                <c:pt idx="6">
                  <c:v>Accessories</c:v>
                </c:pt>
                <c:pt idx="7">
                  <c:v>Copiers</c:v>
                </c:pt>
                <c:pt idx="8">
                  <c:v>Bookcases</c:v>
                </c:pt>
                <c:pt idx="9">
                  <c:v>Appliances</c:v>
                </c:pt>
              </c:strCache>
            </c:strRef>
          </c:cat>
          <c:val>
            <c:numRef>
              <c:f>Sheet1!$B$2:$B$11</c:f>
              <c:numCache>
                <c:formatCode>General</c:formatCode>
                <c:ptCount val="10"/>
                <c:pt idx="0">
                  <c:v>330007.09999999998</c:v>
                </c:pt>
                <c:pt idx="1">
                  <c:v>328167.76</c:v>
                </c:pt>
                <c:pt idx="2">
                  <c:v>223843.59</c:v>
                </c:pt>
                <c:pt idx="3">
                  <c:v>206965.68</c:v>
                </c:pt>
                <c:pt idx="4">
                  <c:v>203412.77</c:v>
                </c:pt>
                <c:pt idx="5">
                  <c:v>189238.68</c:v>
                </c:pt>
                <c:pt idx="6">
                  <c:v>167380.31</c:v>
                </c:pt>
                <c:pt idx="7">
                  <c:v>149528.01</c:v>
                </c:pt>
                <c:pt idx="8">
                  <c:v>114880.05</c:v>
                </c:pt>
                <c:pt idx="9">
                  <c:v>107532.14</c:v>
                </c:pt>
              </c:numCache>
            </c:numRef>
          </c:val>
          <c:extLst>
            <c:ext xmlns:c16="http://schemas.microsoft.com/office/drawing/2014/chart" uri="{C3380CC4-5D6E-409C-BE32-E72D297353CC}">
              <c16:uniqueId val="{00000000-4806-40F8-BF8B-263297CD9DA6}"/>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Sales</c:v>
                </c:pt>
              </c:strCache>
            </c:strRef>
          </c:tx>
          <c:cat>
            <c:strRef>
              <c:f>Sheet1!$A$2:$A$49</c:f>
              <c:strCache>
                <c:ptCount val="48"/>
                <c:pt idx="0">
                  <c:v>2020-01</c:v>
                </c:pt>
                <c:pt idx="1">
                  <c:v>2020-02</c:v>
                </c:pt>
                <c:pt idx="2">
                  <c:v>2020-03</c:v>
                </c:pt>
                <c:pt idx="3">
                  <c:v>2020-04</c:v>
                </c:pt>
                <c:pt idx="4">
                  <c:v>2020-05</c:v>
                </c:pt>
                <c:pt idx="5">
                  <c:v>2020-06</c:v>
                </c:pt>
                <c:pt idx="6">
                  <c:v>2020-07</c:v>
                </c:pt>
                <c:pt idx="7">
                  <c:v>2020-08</c:v>
                </c:pt>
                <c:pt idx="8">
                  <c:v>2020-09</c:v>
                </c:pt>
                <c:pt idx="9">
                  <c:v>2020-10</c:v>
                </c:pt>
                <c:pt idx="10">
                  <c:v>2020-11</c:v>
                </c:pt>
                <c:pt idx="11">
                  <c:v>2020-12</c:v>
                </c:pt>
                <c:pt idx="12">
                  <c:v>2021-01</c:v>
                </c:pt>
                <c:pt idx="13">
                  <c:v>2021-02</c:v>
                </c:pt>
                <c:pt idx="14">
                  <c:v>2021-03</c:v>
                </c:pt>
                <c:pt idx="15">
                  <c:v>2021-04</c:v>
                </c:pt>
                <c:pt idx="16">
                  <c:v>2021-05</c:v>
                </c:pt>
                <c:pt idx="17">
                  <c:v>2021-06</c:v>
                </c:pt>
                <c:pt idx="18">
                  <c:v>2021-07</c:v>
                </c:pt>
                <c:pt idx="19">
                  <c:v>2021-08</c:v>
                </c:pt>
                <c:pt idx="20">
                  <c:v>2021-09</c:v>
                </c:pt>
                <c:pt idx="21">
                  <c:v>2021-10</c:v>
                </c:pt>
                <c:pt idx="22">
                  <c:v>2021-11</c:v>
                </c:pt>
                <c:pt idx="23">
                  <c:v>2021-12</c:v>
                </c:pt>
                <c:pt idx="24">
                  <c:v>2022-01</c:v>
                </c:pt>
                <c:pt idx="25">
                  <c:v>2022-02</c:v>
                </c:pt>
                <c:pt idx="26">
                  <c:v>2022-03</c:v>
                </c:pt>
                <c:pt idx="27">
                  <c:v>2022-04</c:v>
                </c:pt>
                <c:pt idx="28">
                  <c:v>2022-05</c:v>
                </c:pt>
                <c:pt idx="29">
                  <c:v>2022-06</c:v>
                </c:pt>
                <c:pt idx="30">
                  <c:v>2022-07</c:v>
                </c:pt>
                <c:pt idx="31">
                  <c:v>2022-08</c:v>
                </c:pt>
                <c:pt idx="32">
                  <c:v>2022-09</c:v>
                </c:pt>
                <c:pt idx="33">
                  <c:v>2022-10</c:v>
                </c:pt>
                <c:pt idx="34">
                  <c:v>2022-11</c:v>
                </c:pt>
                <c:pt idx="35">
                  <c:v>2022-12</c:v>
                </c:pt>
                <c:pt idx="36">
                  <c:v>2023-01</c:v>
                </c:pt>
                <c:pt idx="37">
                  <c:v>2023-02</c:v>
                </c:pt>
                <c:pt idx="38">
                  <c:v>2023-03</c:v>
                </c:pt>
                <c:pt idx="39">
                  <c:v>2023-04</c:v>
                </c:pt>
                <c:pt idx="40">
                  <c:v>2023-05</c:v>
                </c:pt>
                <c:pt idx="41">
                  <c:v>2023-06</c:v>
                </c:pt>
                <c:pt idx="42">
                  <c:v>2023-07</c:v>
                </c:pt>
                <c:pt idx="43">
                  <c:v>2023-08</c:v>
                </c:pt>
                <c:pt idx="44">
                  <c:v>2023-09</c:v>
                </c:pt>
                <c:pt idx="45">
                  <c:v>2023-10</c:v>
                </c:pt>
                <c:pt idx="46">
                  <c:v>2023-11</c:v>
                </c:pt>
                <c:pt idx="47">
                  <c:v>2023-12</c:v>
                </c:pt>
              </c:strCache>
            </c:strRef>
          </c:cat>
          <c:val>
            <c:numRef>
              <c:f>Sheet1!$B$2:$B$49</c:f>
              <c:numCache>
                <c:formatCode>General</c:formatCode>
                <c:ptCount val="48"/>
                <c:pt idx="0">
                  <c:v>14236.9</c:v>
                </c:pt>
                <c:pt idx="1">
                  <c:v>4519.92</c:v>
                </c:pt>
                <c:pt idx="2">
                  <c:v>55691.040000000001</c:v>
                </c:pt>
                <c:pt idx="3">
                  <c:v>28013.98</c:v>
                </c:pt>
                <c:pt idx="4">
                  <c:v>23648.28</c:v>
                </c:pt>
                <c:pt idx="5">
                  <c:v>34595.14</c:v>
                </c:pt>
                <c:pt idx="6">
                  <c:v>33946.370000000003</c:v>
                </c:pt>
                <c:pt idx="7">
                  <c:v>27909.47</c:v>
                </c:pt>
                <c:pt idx="8">
                  <c:v>81777.34</c:v>
                </c:pt>
                <c:pt idx="9">
                  <c:v>31453.37</c:v>
                </c:pt>
                <c:pt idx="10">
                  <c:v>78628.740000000005</c:v>
                </c:pt>
                <c:pt idx="11">
                  <c:v>69545.64</c:v>
                </c:pt>
                <c:pt idx="12">
                  <c:v>18174.080000000002</c:v>
                </c:pt>
                <c:pt idx="13">
                  <c:v>11951.4</c:v>
                </c:pt>
                <c:pt idx="14">
                  <c:v>38726.26</c:v>
                </c:pt>
                <c:pt idx="15">
                  <c:v>34195.25</c:v>
                </c:pt>
                <c:pt idx="16">
                  <c:v>30131.72</c:v>
                </c:pt>
                <c:pt idx="17">
                  <c:v>24797.31</c:v>
                </c:pt>
                <c:pt idx="18">
                  <c:v>28765.32</c:v>
                </c:pt>
                <c:pt idx="19">
                  <c:v>36898.32</c:v>
                </c:pt>
                <c:pt idx="20">
                  <c:v>64595.87</c:v>
                </c:pt>
                <c:pt idx="21">
                  <c:v>31404.9</c:v>
                </c:pt>
                <c:pt idx="22">
                  <c:v>75972.509999999995</c:v>
                </c:pt>
                <c:pt idx="23">
                  <c:v>74919.520000000004</c:v>
                </c:pt>
                <c:pt idx="24">
                  <c:v>18542.52</c:v>
                </c:pt>
                <c:pt idx="25">
                  <c:v>22978.82</c:v>
                </c:pt>
                <c:pt idx="26">
                  <c:v>51715.86</c:v>
                </c:pt>
                <c:pt idx="27">
                  <c:v>38750.04</c:v>
                </c:pt>
                <c:pt idx="28">
                  <c:v>56987.75</c:v>
                </c:pt>
                <c:pt idx="29">
                  <c:v>40344.54</c:v>
                </c:pt>
                <c:pt idx="30">
                  <c:v>39261.99</c:v>
                </c:pt>
                <c:pt idx="31">
                  <c:v>31115.35</c:v>
                </c:pt>
                <c:pt idx="32">
                  <c:v>73410.09</c:v>
                </c:pt>
                <c:pt idx="33">
                  <c:v>59687.8</c:v>
                </c:pt>
                <c:pt idx="34">
                  <c:v>79412.03</c:v>
                </c:pt>
                <c:pt idx="35">
                  <c:v>96999.07</c:v>
                </c:pt>
                <c:pt idx="36">
                  <c:v>43971.37</c:v>
                </c:pt>
                <c:pt idx="37">
                  <c:v>20301.12</c:v>
                </c:pt>
                <c:pt idx="38">
                  <c:v>58872.35</c:v>
                </c:pt>
                <c:pt idx="39">
                  <c:v>36521.519999999997</c:v>
                </c:pt>
                <c:pt idx="40">
                  <c:v>44261.08</c:v>
                </c:pt>
                <c:pt idx="41">
                  <c:v>52981.73</c:v>
                </c:pt>
                <c:pt idx="42">
                  <c:v>45264.43</c:v>
                </c:pt>
                <c:pt idx="43">
                  <c:v>63120.85</c:v>
                </c:pt>
                <c:pt idx="44">
                  <c:v>87866.66</c:v>
                </c:pt>
                <c:pt idx="45">
                  <c:v>77776.959999999992</c:v>
                </c:pt>
                <c:pt idx="46">
                  <c:v>118447.81</c:v>
                </c:pt>
                <c:pt idx="47">
                  <c:v>83829.31</c:v>
                </c:pt>
              </c:numCache>
            </c:numRef>
          </c:val>
          <c:smooth val="0"/>
          <c:extLst>
            <c:ext xmlns:c16="http://schemas.microsoft.com/office/drawing/2014/chart" uri="{C3380CC4-5D6E-409C-BE32-E72D297353CC}">
              <c16:uniqueId val="{00000000-7910-41AB-889D-E68FDB321A4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txPr>
          <a:bodyPr/>
          <a:lstStyle/>
          <a:p>
            <a:pPr>
              <a:defRPr sz="800"/>
            </a:pPr>
            <a:endParaRPr lang="en-US"/>
          </a:p>
        </c:txPr>
        <c:crossAx val="2140495176"/>
        <c:crosses val="autoZero"/>
        <c:auto val="1"/>
        <c:lblAlgn val="ctr"/>
        <c:lblOffset val="100"/>
        <c:noMultiLvlLbl val="0"/>
      </c:catAx>
      <c:valAx>
        <c:axId val="2140495176"/>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118791784"/>
        <c:crosses val="autoZero"/>
        <c:crossBetween val="between"/>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Sales</c:v>
                </c:pt>
              </c:strCache>
            </c:strRef>
          </c:tx>
          <c:invertIfNegative val="1"/>
          <c:cat>
            <c:strRef>
              <c:f>Sheet1!$A$2:$A$4</c:f>
              <c:strCache>
                <c:ptCount val="3"/>
                <c:pt idx="0">
                  <c:v>Technology</c:v>
                </c:pt>
                <c:pt idx="1">
                  <c:v>Furniture</c:v>
                </c:pt>
                <c:pt idx="2">
                  <c:v>Office Supplies</c:v>
                </c:pt>
              </c:strCache>
            </c:strRef>
          </c:cat>
          <c:val>
            <c:numRef>
              <c:f>Sheet1!$B$2:$B$4</c:f>
              <c:numCache>
                <c:formatCode>General</c:formatCode>
                <c:ptCount val="3"/>
                <c:pt idx="0">
                  <c:v>836154.1</c:v>
                </c:pt>
                <c:pt idx="1">
                  <c:v>741718.61</c:v>
                </c:pt>
                <c:pt idx="2">
                  <c:v>719046.99</c:v>
                </c:pt>
              </c:numCache>
            </c:numRef>
          </c:val>
          <c:extLst>
            <c:ext xmlns:c16="http://schemas.microsoft.com/office/drawing/2014/chart" uri="{C3380CC4-5D6E-409C-BE32-E72D297353CC}">
              <c16:uniqueId val="{00000000-F4DD-40E6-A8E3-7EAFADA7570C}"/>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800"/>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800"/>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EFDDA3-ABC4-4ADD-A56A-2C2B69C46549}" type="datetimeFigureOut">
              <a:rPr lang="en-IN" smtClean="0"/>
              <a:t>01-10-2026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D1D90B-A87D-4CEC-871F-A6D881B77DC4}" type="slidenum">
              <a:rPr lang="en-IN" smtClean="0"/>
              <a:t>‹#›</a:t>
            </a:fld>
            <a:endParaRPr lang="en-IN"/>
          </a:p>
        </p:txBody>
      </p:sp>
    </p:spTree>
    <p:extLst>
      <p:ext uri="{BB962C8B-B14F-4D97-AF65-F5344CB8AC3E}">
        <p14:creationId xmlns:p14="http://schemas.microsoft.com/office/powerpoint/2010/main" val="2877077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5D1D90B-A87D-4CEC-871F-A6D881B77DC4}" type="slidenum">
              <a:rPr lang="en-IN" smtClean="0"/>
              <a:t>17</a:t>
            </a:fld>
            <a:endParaRPr lang="en-IN"/>
          </a:p>
        </p:txBody>
      </p:sp>
    </p:spTree>
    <p:extLst>
      <p:ext uri="{BB962C8B-B14F-4D97-AF65-F5344CB8AC3E}">
        <p14:creationId xmlns:p14="http://schemas.microsoft.com/office/powerpoint/2010/main" val="3779359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658368"/>
            <a:ext cx="10881360" cy="502920"/>
          </a:xfrm>
          <a:prstGeom prst="rect">
            <a:avLst/>
          </a:prstGeom>
          <a:noFill/>
        </p:spPr>
        <p:txBody>
          <a:bodyPr wrap="none" lIns="36576" tIns="36576" rIns="36576" bIns="36576" anchor="t">
            <a:spAutoFit/>
          </a:bodyPr>
          <a:lstStyle/>
          <a:p>
            <a:pPr algn="l"/>
            <a:r>
              <a:rPr sz="2900" b="1">
                <a:solidFill>
                  <a:srgbClr val="FFFFFF"/>
                </a:solidFill>
                <a:latin typeface="Aptos Display"/>
              </a:rPr>
              <a:t>SALES PERFORMANCE</a:t>
            </a:r>
          </a:p>
        </p:txBody>
      </p:sp>
      <p:sp>
        <p:nvSpPr>
          <p:cNvPr id="4" name="TextBox 3"/>
          <p:cNvSpPr txBox="1"/>
          <p:nvPr/>
        </p:nvSpPr>
        <p:spPr>
          <a:xfrm>
            <a:off x="658368" y="1234440"/>
            <a:ext cx="10881360" cy="566928"/>
          </a:xfrm>
          <a:prstGeom prst="rect">
            <a:avLst/>
          </a:prstGeom>
          <a:noFill/>
        </p:spPr>
        <p:txBody>
          <a:bodyPr wrap="none" lIns="36576" tIns="36576" rIns="36576" bIns="36576" anchor="t">
            <a:spAutoFit/>
          </a:bodyPr>
          <a:lstStyle/>
          <a:p>
            <a:pPr algn="l"/>
            <a:r>
              <a:rPr sz="2500" b="1">
                <a:solidFill>
                  <a:srgbClr val="FFFFFF"/>
                </a:solidFill>
                <a:latin typeface="Aptos"/>
              </a:rPr>
              <a:t>Business Performance Review</a:t>
            </a:r>
          </a:p>
        </p:txBody>
      </p:sp>
      <p:sp>
        <p:nvSpPr>
          <p:cNvPr id="5" name="TextBox 4"/>
          <p:cNvSpPr txBox="1"/>
          <p:nvPr/>
        </p:nvSpPr>
        <p:spPr>
          <a:xfrm>
            <a:off x="658368" y="1874519"/>
            <a:ext cx="10515600" cy="411480"/>
          </a:xfrm>
          <a:prstGeom prst="rect">
            <a:avLst/>
          </a:prstGeom>
          <a:noFill/>
        </p:spPr>
        <p:txBody>
          <a:bodyPr wrap="none" lIns="36576" tIns="36576" rIns="36576" bIns="36576" anchor="t">
            <a:spAutoFit/>
          </a:bodyPr>
          <a:lstStyle/>
          <a:p>
            <a:pPr algn="l"/>
            <a:r>
              <a:rPr sz="1500" b="0">
                <a:solidFill>
                  <a:srgbClr val="DCE6F0"/>
                </a:solidFill>
                <a:latin typeface="Aptos"/>
              </a:rPr>
              <a:t>Executive dashboard, trend analysis and decision insights</a:t>
            </a:r>
          </a:p>
        </p:txBody>
      </p:sp>
      <p:sp>
        <p:nvSpPr>
          <p:cNvPr id="6" name="TextBox 5"/>
          <p:cNvSpPr txBox="1"/>
          <p:nvPr/>
        </p:nvSpPr>
        <p:spPr>
          <a:xfrm>
            <a:off x="658368" y="2788920"/>
            <a:ext cx="2743200" cy="256032"/>
          </a:xfrm>
          <a:prstGeom prst="rect">
            <a:avLst/>
          </a:prstGeom>
          <a:noFill/>
        </p:spPr>
        <p:txBody>
          <a:bodyPr wrap="none" lIns="36576" tIns="36576" rIns="36576" bIns="36576" anchor="t">
            <a:spAutoFit/>
          </a:bodyPr>
          <a:lstStyle/>
          <a:p>
            <a:pPr algn="l"/>
            <a:r>
              <a:rPr sz="900" b="1">
                <a:solidFill>
                  <a:srgbClr val="B4C8DC"/>
                </a:solidFill>
                <a:latin typeface="Aptos"/>
              </a:rPr>
              <a:t>Presented for</a:t>
            </a:r>
          </a:p>
        </p:txBody>
      </p:sp>
      <p:sp>
        <p:nvSpPr>
          <p:cNvPr id="7" name="TextBox 6"/>
          <p:cNvSpPr txBox="1"/>
          <p:nvPr/>
        </p:nvSpPr>
        <p:spPr>
          <a:xfrm>
            <a:off x="658368" y="3108960"/>
            <a:ext cx="4029886" cy="350865"/>
          </a:xfrm>
          <a:prstGeom prst="rect">
            <a:avLst/>
          </a:prstGeom>
          <a:noFill/>
        </p:spPr>
        <p:txBody>
          <a:bodyPr wrap="none" lIns="36576" tIns="36576" rIns="36576" bIns="36576" anchor="t">
            <a:spAutoFit/>
          </a:bodyPr>
          <a:lstStyle/>
          <a:p>
            <a:r>
              <a:rPr lang="en-US" dirty="0">
                <a:solidFill>
                  <a:schemeClr val="bg1"/>
                </a:solidFill>
              </a:rPr>
              <a:t>Sales Revenue Dashboard with KPI Tracker</a:t>
            </a:r>
            <a:endParaRPr sz="2000" b="1" dirty="0">
              <a:solidFill>
                <a:schemeClr val="bg1"/>
              </a:solidFill>
              <a:latin typeface="Aptos"/>
            </a:endParaRPr>
          </a:p>
        </p:txBody>
      </p:sp>
      <p:sp>
        <p:nvSpPr>
          <p:cNvPr id="8" name="TextBox 7"/>
          <p:cNvSpPr txBox="1"/>
          <p:nvPr/>
        </p:nvSpPr>
        <p:spPr>
          <a:xfrm>
            <a:off x="658368" y="3657600"/>
            <a:ext cx="5943600" cy="274320"/>
          </a:xfrm>
          <a:prstGeom prst="rect">
            <a:avLst/>
          </a:prstGeom>
          <a:noFill/>
        </p:spPr>
        <p:txBody>
          <a:bodyPr wrap="none" lIns="36576" tIns="36576" rIns="36576" bIns="36576" anchor="t">
            <a:spAutoFit/>
          </a:bodyPr>
          <a:lstStyle/>
          <a:p>
            <a:pPr algn="l"/>
            <a:r>
              <a:rPr sz="1100" b="0">
                <a:solidFill>
                  <a:srgbClr val="D2E1EB"/>
                </a:solidFill>
                <a:latin typeface="Aptos"/>
              </a:rPr>
              <a:t>9,993 orders • 793 customers • 37,871 units</a:t>
            </a:r>
          </a:p>
        </p:txBody>
      </p:sp>
      <p:sp>
        <p:nvSpPr>
          <p:cNvPr id="9" name="Rectangle 8"/>
          <p:cNvSpPr/>
          <p:nvPr/>
        </p:nvSpPr>
        <p:spPr>
          <a:xfrm>
            <a:off x="8321040" y="5074920"/>
            <a:ext cx="685800" cy="109728"/>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9281160" y="5074920"/>
            <a:ext cx="685800" cy="109728"/>
          </a:xfrm>
          <a:prstGeom prst="rect">
            <a:avLst/>
          </a:prstGeom>
          <a:solidFill>
            <a:srgbClr val="F28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241280" y="5074920"/>
            <a:ext cx="685800" cy="109728"/>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a:extLst>
              <a:ext uri="{FF2B5EF4-FFF2-40B4-BE49-F238E27FC236}">
                <a16:creationId xmlns:a16="http://schemas.microsoft.com/office/drawing/2014/main" id="{1912BD6B-D17B-B931-3ED4-728E43A3E568}"/>
              </a:ext>
            </a:extLst>
          </p:cNvPr>
          <p:cNvPicPr>
            <a:picLocks noChangeAspect="1"/>
          </p:cNvPicPr>
          <p:nvPr/>
        </p:nvPicPr>
        <p:blipFill>
          <a:blip r:embed="rId2"/>
          <a:stretch>
            <a:fillRect/>
          </a:stretch>
        </p:blipFill>
        <p:spPr>
          <a:xfrm>
            <a:off x="10187940" y="318768"/>
            <a:ext cx="1737360" cy="91567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Executive Summary</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A concise view of commercial performance, growth, profitability and concentration.</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2</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640080" y="1417320"/>
            <a:ext cx="2606040" cy="1325880"/>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 y="1536192"/>
            <a:ext cx="2313432" cy="201168"/>
          </a:xfrm>
          <a:prstGeom prst="rect">
            <a:avLst/>
          </a:prstGeom>
          <a:noFill/>
        </p:spPr>
        <p:txBody>
          <a:bodyPr wrap="none" lIns="36576" tIns="36576" rIns="36576" bIns="36576" anchor="t">
            <a:spAutoFit/>
          </a:bodyPr>
          <a:lstStyle/>
          <a:p>
            <a:pPr algn="l"/>
            <a:r>
              <a:rPr sz="900" b="1">
                <a:solidFill>
                  <a:srgbClr val="FFFFFF"/>
                </a:solidFill>
                <a:latin typeface="Aptos"/>
              </a:rPr>
              <a:t>TOTAL SALES</a:t>
            </a:r>
          </a:p>
        </p:txBody>
      </p:sp>
      <p:sp>
        <p:nvSpPr>
          <p:cNvPr id="10" name="TextBox 9"/>
          <p:cNvSpPr txBox="1"/>
          <p:nvPr/>
        </p:nvSpPr>
        <p:spPr>
          <a:xfrm>
            <a:off x="786384" y="1828800"/>
            <a:ext cx="2313432" cy="475488"/>
          </a:xfrm>
          <a:prstGeom prst="rect">
            <a:avLst/>
          </a:prstGeom>
          <a:noFill/>
        </p:spPr>
        <p:txBody>
          <a:bodyPr wrap="none" lIns="36576" tIns="36576" rIns="36576" bIns="36576" anchor="t">
            <a:spAutoFit/>
          </a:bodyPr>
          <a:lstStyle/>
          <a:p>
            <a:pPr algn="l"/>
            <a:r>
              <a:rPr sz="2200" b="1">
                <a:solidFill>
                  <a:srgbClr val="FFFFFF"/>
                </a:solidFill>
                <a:latin typeface="Aptos Display"/>
              </a:rPr>
              <a:t>$2,296,920</a:t>
            </a:r>
          </a:p>
        </p:txBody>
      </p:sp>
      <p:sp>
        <p:nvSpPr>
          <p:cNvPr id="11" name="TextBox 10"/>
          <p:cNvSpPr txBox="1"/>
          <p:nvPr/>
        </p:nvSpPr>
        <p:spPr>
          <a:xfrm>
            <a:off x="786384" y="2377440"/>
            <a:ext cx="2313432" cy="256032"/>
          </a:xfrm>
          <a:prstGeom prst="rect">
            <a:avLst/>
          </a:prstGeom>
          <a:noFill/>
        </p:spPr>
        <p:txBody>
          <a:bodyPr wrap="none" lIns="36576" tIns="36576" rIns="36576" bIns="36576" anchor="t">
            <a:spAutoFit/>
          </a:bodyPr>
          <a:lstStyle/>
          <a:p>
            <a:pPr algn="l"/>
            <a:r>
              <a:rPr sz="850" b="0">
                <a:solidFill>
                  <a:srgbClr val="FFFFFF"/>
                </a:solidFill>
                <a:latin typeface="Aptos"/>
              </a:rPr>
              <a:t>Across all sales records</a:t>
            </a:r>
          </a:p>
        </p:txBody>
      </p:sp>
      <p:sp>
        <p:nvSpPr>
          <p:cNvPr id="12" name="Rounded Rectangle 11"/>
          <p:cNvSpPr/>
          <p:nvPr/>
        </p:nvSpPr>
        <p:spPr>
          <a:xfrm>
            <a:off x="3401568" y="1417320"/>
            <a:ext cx="2606040" cy="1325880"/>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47872" y="1536192"/>
            <a:ext cx="2313432" cy="201168"/>
          </a:xfrm>
          <a:prstGeom prst="rect">
            <a:avLst/>
          </a:prstGeom>
          <a:noFill/>
        </p:spPr>
        <p:txBody>
          <a:bodyPr wrap="none" lIns="36576" tIns="36576" rIns="36576" bIns="36576" anchor="t">
            <a:spAutoFit/>
          </a:bodyPr>
          <a:lstStyle/>
          <a:p>
            <a:pPr algn="l"/>
            <a:r>
              <a:rPr sz="900" b="1">
                <a:solidFill>
                  <a:srgbClr val="FFFFFF"/>
                </a:solidFill>
                <a:latin typeface="Aptos"/>
              </a:rPr>
              <a:t>TOTAL PROFIT</a:t>
            </a:r>
          </a:p>
        </p:txBody>
      </p:sp>
      <p:sp>
        <p:nvSpPr>
          <p:cNvPr id="14" name="TextBox 13"/>
          <p:cNvSpPr txBox="1"/>
          <p:nvPr/>
        </p:nvSpPr>
        <p:spPr>
          <a:xfrm>
            <a:off x="3547872" y="1828800"/>
            <a:ext cx="2313432" cy="475488"/>
          </a:xfrm>
          <a:prstGeom prst="rect">
            <a:avLst/>
          </a:prstGeom>
          <a:noFill/>
        </p:spPr>
        <p:txBody>
          <a:bodyPr wrap="none" lIns="36576" tIns="36576" rIns="36576" bIns="36576" anchor="t">
            <a:spAutoFit/>
          </a:bodyPr>
          <a:lstStyle/>
          <a:p>
            <a:pPr algn="l"/>
            <a:r>
              <a:rPr sz="2200" b="1">
                <a:solidFill>
                  <a:srgbClr val="FFFFFF"/>
                </a:solidFill>
                <a:latin typeface="Aptos Display"/>
              </a:rPr>
              <a:t>$286,410</a:t>
            </a:r>
          </a:p>
        </p:txBody>
      </p:sp>
      <p:sp>
        <p:nvSpPr>
          <p:cNvPr id="15" name="TextBox 14"/>
          <p:cNvSpPr txBox="1"/>
          <p:nvPr/>
        </p:nvSpPr>
        <p:spPr>
          <a:xfrm>
            <a:off x="3547872" y="2377440"/>
            <a:ext cx="2313432" cy="256032"/>
          </a:xfrm>
          <a:prstGeom prst="rect">
            <a:avLst/>
          </a:prstGeom>
          <a:noFill/>
        </p:spPr>
        <p:txBody>
          <a:bodyPr wrap="none" lIns="36576" tIns="36576" rIns="36576" bIns="36576" anchor="t">
            <a:spAutoFit/>
          </a:bodyPr>
          <a:lstStyle/>
          <a:p>
            <a:pPr algn="l"/>
            <a:r>
              <a:rPr sz="850" b="0">
                <a:solidFill>
                  <a:srgbClr val="FFFFFF"/>
                </a:solidFill>
                <a:latin typeface="Aptos"/>
              </a:rPr>
              <a:t>Margin 12.5%</a:t>
            </a:r>
          </a:p>
        </p:txBody>
      </p:sp>
      <p:sp>
        <p:nvSpPr>
          <p:cNvPr id="16" name="Rounded Rectangle 15"/>
          <p:cNvSpPr/>
          <p:nvPr/>
        </p:nvSpPr>
        <p:spPr>
          <a:xfrm>
            <a:off x="6163056" y="1417320"/>
            <a:ext cx="2606040" cy="1325880"/>
          </a:xfrm>
          <a:prstGeom prst="roundRect">
            <a:avLst/>
          </a:prstGeom>
          <a:solidFill>
            <a:srgbClr val="F28E2B"/>
          </a:solidFill>
          <a:ln>
            <a:solidFill>
              <a:srgbClr val="F28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536192"/>
            <a:ext cx="2313432" cy="201168"/>
          </a:xfrm>
          <a:prstGeom prst="rect">
            <a:avLst/>
          </a:prstGeom>
          <a:noFill/>
        </p:spPr>
        <p:txBody>
          <a:bodyPr wrap="none" lIns="36576" tIns="36576" rIns="36576" bIns="36576" anchor="t">
            <a:spAutoFit/>
          </a:bodyPr>
          <a:lstStyle/>
          <a:p>
            <a:pPr algn="l"/>
            <a:r>
              <a:rPr sz="900" b="1">
                <a:solidFill>
                  <a:srgbClr val="FFFFFF"/>
                </a:solidFill>
                <a:latin typeface="Aptos"/>
              </a:rPr>
              <a:t>ORDERS</a:t>
            </a:r>
          </a:p>
        </p:txBody>
      </p:sp>
      <p:sp>
        <p:nvSpPr>
          <p:cNvPr id="18" name="TextBox 17"/>
          <p:cNvSpPr txBox="1"/>
          <p:nvPr/>
        </p:nvSpPr>
        <p:spPr>
          <a:xfrm>
            <a:off x="6309360" y="1828800"/>
            <a:ext cx="2313432" cy="475488"/>
          </a:xfrm>
          <a:prstGeom prst="rect">
            <a:avLst/>
          </a:prstGeom>
          <a:noFill/>
        </p:spPr>
        <p:txBody>
          <a:bodyPr wrap="none" lIns="36576" tIns="36576" rIns="36576" bIns="36576" anchor="t">
            <a:spAutoFit/>
          </a:bodyPr>
          <a:lstStyle/>
          <a:p>
            <a:pPr algn="l"/>
            <a:r>
              <a:rPr sz="2200" b="1">
                <a:solidFill>
                  <a:srgbClr val="FFFFFF"/>
                </a:solidFill>
                <a:latin typeface="Aptos Display"/>
              </a:rPr>
              <a:t>9,993</a:t>
            </a:r>
          </a:p>
        </p:txBody>
      </p:sp>
      <p:sp>
        <p:nvSpPr>
          <p:cNvPr id="19" name="TextBox 18"/>
          <p:cNvSpPr txBox="1"/>
          <p:nvPr/>
        </p:nvSpPr>
        <p:spPr>
          <a:xfrm>
            <a:off x="6309360" y="2377440"/>
            <a:ext cx="2313432" cy="256032"/>
          </a:xfrm>
          <a:prstGeom prst="rect">
            <a:avLst/>
          </a:prstGeom>
          <a:noFill/>
        </p:spPr>
        <p:txBody>
          <a:bodyPr wrap="none" lIns="36576" tIns="36576" rIns="36576" bIns="36576" anchor="t">
            <a:spAutoFit/>
          </a:bodyPr>
          <a:lstStyle/>
          <a:p>
            <a:pPr algn="l"/>
            <a:r>
              <a:rPr sz="850" b="0">
                <a:solidFill>
                  <a:srgbClr val="FFFFFF"/>
                </a:solidFill>
                <a:latin typeface="Aptos"/>
              </a:rPr>
              <a:t>Transaction volume</a:t>
            </a:r>
          </a:p>
        </p:txBody>
      </p:sp>
      <p:sp>
        <p:nvSpPr>
          <p:cNvPr id="20" name="Rounded Rectangle 19"/>
          <p:cNvSpPr/>
          <p:nvPr/>
        </p:nvSpPr>
        <p:spPr>
          <a:xfrm>
            <a:off x="8924544" y="1417320"/>
            <a:ext cx="2606040" cy="1325880"/>
          </a:xfrm>
          <a:prstGeom prst="roundRect">
            <a:avLst/>
          </a:prstGeom>
          <a:solidFill>
            <a:srgbClr val="234A73"/>
          </a:solidFill>
          <a:ln>
            <a:solidFill>
              <a:srgbClr val="23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70848" y="1536192"/>
            <a:ext cx="2313432" cy="201168"/>
          </a:xfrm>
          <a:prstGeom prst="rect">
            <a:avLst/>
          </a:prstGeom>
          <a:noFill/>
        </p:spPr>
        <p:txBody>
          <a:bodyPr wrap="none" lIns="36576" tIns="36576" rIns="36576" bIns="36576" anchor="t">
            <a:spAutoFit/>
          </a:bodyPr>
          <a:lstStyle/>
          <a:p>
            <a:pPr algn="l"/>
            <a:r>
              <a:rPr sz="900" b="1">
                <a:solidFill>
                  <a:srgbClr val="FFFFFF"/>
                </a:solidFill>
                <a:latin typeface="Aptos"/>
              </a:rPr>
              <a:t>CUSTOMERS</a:t>
            </a:r>
          </a:p>
        </p:txBody>
      </p:sp>
      <p:sp>
        <p:nvSpPr>
          <p:cNvPr id="22" name="TextBox 21"/>
          <p:cNvSpPr txBox="1"/>
          <p:nvPr/>
        </p:nvSpPr>
        <p:spPr>
          <a:xfrm>
            <a:off x="9070848" y="1828800"/>
            <a:ext cx="2313432" cy="475488"/>
          </a:xfrm>
          <a:prstGeom prst="rect">
            <a:avLst/>
          </a:prstGeom>
          <a:noFill/>
        </p:spPr>
        <p:txBody>
          <a:bodyPr wrap="none" lIns="36576" tIns="36576" rIns="36576" bIns="36576" anchor="t">
            <a:spAutoFit/>
          </a:bodyPr>
          <a:lstStyle/>
          <a:p>
            <a:pPr algn="l"/>
            <a:r>
              <a:rPr sz="2200" b="1">
                <a:solidFill>
                  <a:srgbClr val="FFFFFF"/>
                </a:solidFill>
                <a:latin typeface="Aptos Display"/>
              </a:rPr>
              <a:t>793</a:t>
            </a:r>
          </a:p>
        </p:txBody>
      </p:sp>
      <p:sp>
        <p:nvSpPr>
          <p:cNvPr id="23" name="TextBox 22"/>
          <p:cNvSpPr txBox="1"/>
          <p:nvPr/>
        </p:nvSpPr>
        <p:spPr>
          <a:xfrm>
            <a:off x="9070848" y="2377440"/>
            <a:ext cx="2313432" cy="256032"/>
          </a:xfrm>
          <a:prstGeom prst="rect">
            <a:avLst/>
          </a:prstGeom>
          <a:noFill/>
        </p:spPr>
        <p:txBody>
          <a:bodyPr wrap="none" lIns="36576" tIns="36576" rIns="36576" bIns="36576" anchor="t">
            <a:spAutoFit/>
          </a:bodyPr>
          <a:lstStyle/>
          <a:p>
            <a:pPr algn="l"/>
            <a:r>
              <a:rPr sz="850" b="0">
                <a:solidFill>
                  <a:srgbClr val="FFFFFF"/>
                </a:solidFill>
                <a:latin typeface="Aptos"/>
              </a:rPr>
              <a:t>Unique customers</a:t>
            </a:r>
          </a:p>
        </p:txBody>
      </p:sp>
      <p:sp>
        <p:nvSpPr>
          <p:cNvPr id="24" name="TextBox 23"/>
          <p:cNvSpPr txBox="1"/>
          <p:nvPr/>
        </p:nvSpPr>
        <p:spPr>
          <a:xfrm>
            <a:off x="731520" y="3154680"/>
            <a:ext cx="5486400" cy="2468880"/>
          </a:xfrm>
          <a:prstGeom prst="rect">
            <a:avLst/>
          </a:prstGeom>
          <a:noFill/>
        </p:spPr>
        <p:txBody>
          <a:bodyPr wrap="square">
            <a:spAutoFit/>
          </a:bodyPr>
          <a:lstStyle/>
          <a:p>
            <a:pPr>
              <a:spcAft>
                <a:spcPts val="800"/>
              </a:spcAft>
              <a:defRPr sz="1400">
                <a:solidFill>
                  <a:srgbClr val="243447"/>
                </a:solidFill>
                <a:latin typeface="Aptos"/>
              </a:defRPr>
            </a:pPr>
            <a:r>
              <a:t>• 2023 is the strongest year with $733,215 in sales and $93,440 profit.</a:t>
            </a:r>
          </a:p>
          <a:p>
            <a:pPr>
              <a:spcAft>
                <a:spcPts val="800"/>
              </a:spcAft>
              <a:defRPr sz="1400">
                <a:solidFill>
                  <a:srgbClr val="243447"/>
                </a:solidFill>
                <a:latin typeface="Aptos"/>
              </a:defRPr>
            </a:pPr>
            <a:r>
              <a:t>• Technology leads category sales at $836,154 and also has the strongest category margin.</a:t>
            </a:r>
          </a:p>
          <a:p>
            <a:pPr>
              <a:spcAft>
                <a:spcPts val="800"/>
              </a:spcAft>
              <a:defRPr sz="1400">
                <a:solidFill>
                  <a:srgbClr val="243447"/>
                </a:solidFill>
                <a:latin typeface="Aptos"/>
              </a:defRPr>
            </a:pPr>
            <a:r>
              <a:t>• New Delhi is the largest state market at $502,577 in sales.</a:t>
            </a:r>
          </a:p>
          <a:p>
            <a:pPr>
              <a:spcAft>
                <a:spcPts val="800"/>
              </a:spcAft>
              <a:defRPr sz="1400">
                <a:solidFill>
                  <a:srgbClr val="243447"/>
                </a:solidFill>
                <a:latin typeface="Aptos"/>
              </a:defRPr>
            </a:pPr>
            <a:r>
              <a:t>• Furniture requires attention because its sales are substantial but its profit contribution is comparatively low.</a:t>
            </a:r>
          </a:p>
        </p:txBody>
      </p:sp>
      <p:sp>
        <p:nvSpPr>
          <p:cNvPr id="25" name="TextBox 24"/>
          <p:cNvSpPr txBox="1"/>
          <p:nvPr/>
        </p:nvSpPr>
        <p:spPr>
          <a:xfrm>
            <a:off x="6537960" y="3063240"/>
            <a:ext cx="4754880" cy="274320"/>
          </a:xfrm>
          <a:prstGeom prst="rect">
            <a:avLst/>
          </a:prstGeom>
          <a:noFill/>
        </p:spPr>
        <p:txBody>
          <a:bodyPr wrap="none" lIns="36576" tIns="36576" rIns="36576" bIns="36576" anchor="t">
            <a:spAutoFit/>
          </a:bodyPr>
          <a:lstStyle/>
          <a:p>
            <a:pPr algn="l"/>
            <a:r>
              <a:rPr sz="1500" b="1">
                <a:solidFill>
                  <a:srgbClr val="243447"/>
                </a:solidFill>
                <a:latin typeface="Aptos"/>
              </a:rPr>
              <a:t>Management priorities</a:t>
            </a:r>
          </a:p>
        </p:txBody>
      </p:sp>
      <p:sp>
        <p:nvSpPr>
          <p:cNvPr id="26" name="TextBox 25"/>
          <p:cNvSpPr txBox="1"/>
          <p:nvPr/>
        </p:nvSpPr>
        <p:spPr>
          <a:xfrm>
            <a:off x="6537960" y="3429000"/>
            <a:ext cx="4754880" cy="2331720"/>
          </a:xfrm>
          <a:prstGeom prst="rect">
            <a:avLst/>
          </a:prstGeom>
          <a:noFill/>
        </p:spPr>
        <p:txBody>
          <a:bodyPr wrap="square">
            <a:spAutoFit/>
          </a:bodyPr>
          <a:lstStyle/>
          <a:p>
            <a:pPr>
              <a:spcAft>
                <a:spcPts val="800"/>
              </a:spcAft>
              <a:defRPr sz="1300">
                <a:solidFill>
                  <a:srgbClr val="243447"/>
                </a:solidFill>
                <a:latin typeface="Aptos"/>
              </a:defRPr>
            </a:pPr>
            <a:r>
              <a:rPr dirty="0"/>
              <a:t>• Protect the strongest technology and office-supply profit pools.</a:t>
            </a:r>
          </a:p>
          <a:p>
            <a:pPr>
              <a:spcAft>
                <a:spcPts val="800"/>
              </a:spcAft>
              <a:defRPr sz="1300">
                <a:solidFill>
                  <a:srgbClr val="243447"/>
                </a:solidFill>
                <a:latin typeface="Aptos"/>
              </a:defRPr>
            </a:pPr>
            <a:r>
              <a:rPr dirty="0"/>
              <a:t>• Improve furniture economics through pricing, mix and discount discipline.</a:t>
            </a:r>
          </a:p>
          <a:p>
            <a:pPr>
              <a:spcAft>
                <a:spcPts val="800"/>
              </a:spcAft>
              <a:defRPr sz="1300">
                <a:solidFill>
                  <a:srgbClr val="243447"/>
                </a:solidFill>
                <a:latin typeface="Aptos"/>
              </a:defRPr>
            </a:pPr>
            <a:r>
              <a:rPr dirty="0"/>
              <a:t>• Maintain momentum in the highest-value states while reviewing loss-making markets.</a:t>
            </a:r>
          </a:p>
          <a:p>
            <a:pPr>
              <a:spcAft>
                <a:spcPts val="800"/>
              </a:spcAft>
              <a:defRPr sz="1300">
                <a:solidFill>
                  <a:srgbClr val="243447"/>
                </a:solidFill>
                <a:latin typeface="Aptos"/>
              </a:defRPr>
            </a:pPr>
            <a:r>
              <a:rPr dirty="0"/>
              <a:t>• Use top-customer patterns to strengthen retention and repeat purchasing.</a:t>
            </a:r>
          </a:p>
        </p:txBody>
      </p:sp>
      <p:sp>
        <p:nvSpPr>
          <p:cNvPr id="27" name="Rounded Rectangle 26"/>
          <p:cNvSpPr/>
          <p:nvPr/>
        </p:nvSpPr>
        <p:spPr>
          <a:xfrm>
            <a:off x="544830" y="545896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r>
              <a:rPr sz="900" b="1" dirty="0">
                <a:solidFill>
                  <a:srgbClr val="243447"/>
                </a:solidFill>
                <a:latin typeface="Aptos"/>
              </a:rPr>
              <a:t>, profit, orders, and customers. Total sales are $2.30 million and total profit is about $286 thousand, giving a 12.5% profit margin. Technology is a major contributor, while Furniture needs closer attention because its profit contribution is comparatively low.</a:t>
            </a:r>
            <a:r>
              <a:rPr lang="en-US" sz="900" b="1" dirty="0">
                <a:solidFill>
                  <a:srgbClr val="243447"/>
                </a:solidFill>
                <a:latin typeface="Aptos"/>
              </a:rPr>
              <a:t> In this project, I first looked at overall business performance using four main KPIs: sales</a:t>
            </a:r>
            <a:endParaRPr sz="900" b="1" dirty="0">
              <a:solidFill>
                <a:srgbClr val="243447"/>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Presentation Outline</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Structure of the business-performance review.</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3</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822960" y="1417320"/>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01</a:t>
            </a:r>
          </a:p>
        </p:txBody>
      </p:sp>
      <p:sp>
        <p:nvSpPr>
          <p:cNvPr id="9" name="TextBox 8"/>
          <p:cNvSpPr txBox="1"/>
          <p:nvPr/>
        </p:nvSpPr>
        <p:spPr>
          <a:xfrm>
            <a:off x="1417320" y="1399032"/>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Background</a:t>
            </a:r>
          </a:p>
        </p:txBody>
      </p:sp>
      <p:sp>
        <p:nvSpPr>
          <p:cNvPr id="10" name="TextBox 9"/>
          <p:cNvSpPr txBox="1"/>
          <p:nvPr/>
        </p:nvSpPr>
        <p:spPr>
          <a:xfrm>
            <a:off x="6355080" y="1417320"/>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02</a:t>
            </a:r>
          </a:p>
        </p:txBody>
      </p:sp>
      <p:sp>
        <p:nvSpPr>
          <p:cNvPr id="11" name="TextBox 10"/>
          <p:cNvSpPr txBox="1"/>
          <p:nvPr/>
        </p:nvSpPr>
        <p:spPr>
          <a:xfrm>
            <a:off x="6949440" y="1399032"/>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Objectives</a:t>
            </a:r>
          </a:p>
        </p:txBody>
      </p:sp>
      <p:sp>
        <p:nvSpPr>
          <p:cNvPr id="12" name="TextBox 11"/>
          <p:cNvSpPr txBox="1"/>
          <p:nvPr/>
        </p:nvSpPr>
        <p:spPr>
          <a:xfrm>
            <a:off x="822960" y="2075688"/>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03</a:t>
            </a:r>
          </a:p>
        </p:txBody>
      </p:sp>
      <p:sp>
        <p:nvSpPr>
          <p:cNvPr id="13" name="TextBox 12"/>
          <p:cNvSpPr txBox="1"/>
          <p:nvPr/>
        </p:nvSpPr>
        <p:spPr>
          <a:xfrm>
            <a:off x="1417320" y="2057400"/>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Dataset Description</a:t>
            </a:r>
          </a:p>
        </p:txBody>
      </p:sp>
      <p:sp>
        <p:nvSpPr>
          <p:cNvPr id="14" name="TextBox 13"/>
          <p:cNvSpPr txBox="1"/>
          <p:nvPr/>
        </p:nvSpPr>
        <p:spPr>
          <a:xfrm>
            <a:off x="6355080" y="2075688"/>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04</a:t>
            </a:r>
          </a:p>
        </p:txBody>
      </p:sp>
      <p:sp>
        <p:nvSpPr>
          <p:cNvPr id="15" name="TextBox 14"/>
          <p:cNvSpPr txBox="1"/>
          <p:nvPr/>
        </p:nvSpPr>
        <p:spPr>
          <a:xfrm>
            <a:off x="6949440" y="2057400"/>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Methodology</a:t>
            </a:r>
          </a:p>
        </p:txBody>
      </p:sp>
      <p:sp>
        <p:nvSpPr>
          <p:cNvPr id="16" name="TextBox 15"/>
          <p:cNvSpPr txBox="1"/>
          <p:nvPr/>
        </p:nvSpPr>
        <p:spPr>
          <a:xfrm>
            <a:off x="822960" y="2734056"/>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05</a:t>
            </a:r>
          </a:p>
        </p:txBody>
      </p:sp>
      <p:sp>
        <p:nvSpPr>
          <p:cNvPr id="17" name="TextBox 16"/>
          <p:cNvSpPr txBox="1"/>
          <p:nvPr/>
        </p:nvSpPr>
        <p:spPr>
          <a:xfrm>
            <a:off x="1417320" y="2715768"/>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KPI Scorecard</a:t>
            </a:r>
          </a:p>
        </p:txBody>
      </p:sp>
      <p:sp>
        <p:nvSpPr>
          <p:cNvPr id="18" name="TextBox 17"/>
          <p:cNvSpPr txBox="1"/>
          <p:nvPr/>
        </p:nvSpPr>
        <p:spPr>
          <a:xfrm>
            <a:off x="6355080" y="2734056"/>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06</a:t>
            </a:r>
          </a:p>
        </p:txBody>
      </p:sp>
      <p:sp>
        <p:nvSpPr>
          <p:cNvPr id="19" name="TextBox 18"/>
          <p:cNvSpPr txBox="1"/>
          <p:nvPr/>
        </p:nvSpPr>
        <p:spPr>
          <a:xfrm>
            <a:off x="6949440" y="2715768"/>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Revenue &amp; Profit Trend</a:t>
            </a:r>
          </a:p>
        </p:txBody>
      </p:sp>
      <p:sp>
        <p:nvSpPr>
          <p:cNvPr id="20" name="TextBox 19"/>
          <p:cNvSpPr txBox="1"/>
          <p:nvPr/>
        </p:nvSpPr>
        <p:spPr>
          <a:xfrm>
            <a:off x="822960" y="3392424"/>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07</a:t>
            </a:r>
          </a:p>
        </p:txBody>
      </p:sp>
      <p:sp>
        <p:nvSpPr>
          <p:cNvPr id="21" name="TextBox 20"/>
          <p:cNvSpPr txBox="1"/>
          <p:nvPr/>
        </p:nvSpPr>
        <p:spPr>
          <a:xfrm>
            <a:off x="1417320" y="3374136"/>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Regional Performance</a:t>
            </a:r>
          </a:p>
        </p:txBody>
      </p:sp>
      <p:sp>
        <p:nvSpPr>
          <p:cNvPr id="22" name="TextBox 21"/>
          <p:cNvSpPr txBox="1"/>
          <p:nvPr/>
        </p:nvSpPr>
        <p:spPr>
          <a:xfrm>
            <a:off x="6355080" y="3392424"/>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08</a:t>
            </a:r>
          </a:p>
        </p:txBody>
      </p:sp>
      <p:sp>
        <p:nvSpPr>
          <p:cNvPr id="23" name="TextBox 22"/>
          <p:cNvSpPr txBox="1"/>
          <p:nvPr/>
        </p:nvSpPr>
        <p:spPr>
          <a:xfrm>
            <a:off x="6949440" y="3374136"/>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Category Analysis</a:t>
            </a:r>
          </a:p>
        </p:txBody>
      </p:sp>
      <p:sp>
        <p:nvSpPr>
          <p:cNvPr id="24" name="TextBox 23"/>
          <p:cNvSpPr txBox="1"/>
          <p:nvPr/>
        </p:nvSpPr>
        <p:spPr>
          <a:xfrm>
            <a:off x="822960" y="4050791"/>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09</a:t>
            </a:r>
          </a:p>
        </p:txBody>
      </p:sp>
      <p:sp>
        <p:nvSpPr>
          <p:cNvPr id="25" name="TextBox 24"/>
          <p:cNvSpPr txBox="1"/>
          <p:nvPr/>
        </p:nvSpPr>
        <p:spPr>
          <a:xfrm>
            <a:off x="1417320" y="4032504"/>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Customer Analysis</a:t>
            </a:r>
          </a:p>
        </p:txBody>
      </p:sp>
      <p:sp>
        <p:nvSpPr>
          <p:cNvPr id="26" name="TextBox 25"/>
          <p:cNvSpPr txBox="1"/>
          <p:nvPr/>
        </p:nvSpPr>
        <p:spPr>
          <a:xfrm>
            <a:off x="6355080" y="4050791"/>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10</a:t>
            </a:r>
          </a:p>
        </p:txBody>
      </p:sp>
      <p:sp>
        <p:nvSpPr>
          <p:cNvPr id="27" name="TextBox 26"/>
          <p:cNvSpPr txBox="1"/>
          <p:nvPr/>
        </p:nvSpPr>
        <p:spPr>
          <a:xfrm>
            <a:off x="6949440" y="4032504"/>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Sub-Category Analysis</a:t>
            </a:r>
          </a:p>
        </p:txBody>
      </p:sp>
      <p:sp>
        <p:nvSpPr>
          <p:cNvPr id="28" name="TextBox 27"/>
          <p:cNvSpPr txBox="1"/>
          <p:nvPr/>
        </p:nvSpPr>
        <p:spPr>
          <a:xfrm>
            <a:off x="822960" y="4709159"/>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11</a:t>
            </a:r>
          </a:p>
        </p:txBody>
      </p:sp>
      <p:sp>
        <p:nvSpPr>
          <p:cNvPr id="29" name="TextBox 28"/>
          <p:cNvSpPr txBox="1"/>
          <p:nvPr/>
        </p:nvSpPr>
        <p:spPr>
          <a:xfrm>
            <a:off x="1417320" y="4690872"/>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Dashboard Management View</a:t>
            </a:r>
          </a:p>
        </p:txBody>
      </p:sp>
      <p:sp>
        <p:nvSpPr>
          <p:cNvPr id="30" name="TextBox 29"/>
          <p:cNvSpPr txBox="1"/>
          <p:nvPr/>
        </p:nvSpPr>
        <p:spPr>
          <a:xfrm>
            <a:off x="6355080" y="4709159"/>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12</a:t>
            </a:r>
          </a:p>
        </p:txBody>
      </p:sp>
      <p:sp>
        <p:nvSpPr>
          <p:cNvPr id="31" name="TextBox 30"/>
          <p:cNvSpPr txBox="1"/>
          <p:nvPr/>
        </p:nvSpPr>
        <p:spPr>
          <a:xfrm>
            <a:off x="6949440" y="4690872"/>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Recommendations</a:t>
            </a:r>
          </a:p>
        </p:txBody>
      </p:sp>
      <p:sp>
        <p:nvSpPr>
          <p:cNvPr id="32" name="TextBox 31"/>
          <p:cNvSpPr txBox="1"/>
          <p:nvPr/>
        </p:nvSpPr>
        <p:spPr>
          <a:xfrm>
            <a:off x="822960" y="5367528"/>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13</a:t>
            </a:r>
          </a:p>
        </p:txBody>
      </p:sp>
      <p:sp>
        <p:nvSpPr>
          <p:cNvPr id="33" name="TextBox 32"/>
          <p:cNvSpPr txBox="1"/>
          <p:nvPr/>
        </p:nvSpPr>
        <p:spPr>
          <a:xfrm>
            <a:off x="1417320" y="5349240"/>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Conclusion</a:t>
            </a:r>
          </a:p>
        </p:txBody>
      </p:sp>
      <p:sp>
        <p:nvSpPr>
          <p:cNvPr id="34" name="TextBox 33"/>
          <p:cNvSpPr txBox="1"/>
          <p:nvPr/>
        </p:nvSpPr>
        <p:spPr>
          <a:xfrm>
            <a:off x="6355080" y="5367528"/>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14</a:t>
            </a:r>
          </a:p>
        </p:txBody>
      </p:sp>
      <p:sp>
        <p:nvSpPr>
          <p:cNvPr id="35" name="TextBox 34"/>
          <p:cNvSpPr txBox="1"/>
          <p:nvPr/>
        </p:nvSpPr>
        <p:spPr>
          <a:xfrm>
            <a:off x="6949440" y="5349240"/>
            <a:ext cx="4389120" cy="347472"/>
          </a:xfrm>
          <a:prstGeom prst="rect">
            <a:avLst/>
          </a:prstGeom>
          <a:noFill/>
        </p:spPr>
        <p:txBody>
          <a:bodyPr wrap="none" lIns="36576" tIns="36576" rIns="36576" bIns="36576" anchor="t">
            <a:spAutoFit/>
          </a:bodyPr>
          <a:lstStyle/>
          <a:p>
            <a:pPr algn="l"/>
            <a:r>
              <a:rPr sz="1400" b="1">
                <a:solidFill>
                  <a:srgbClr val="243447"/>
                </a:solidFill>
                <a:latin typeface="Aptos"/>
              </a:rPr>
              <a:t>Future Scope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Background</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Why structured sales analytics matters for business decision-making.</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4</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822960" y="1508760"/>
            <a:ext cx="10241280" cy="4297680"/>
          </a:xfrm>
          <a:prstGeom prst="rect">
            <a:avLst/>
          </a:prstGeom>
          <a:noFill/>
        </p:spPr>
        <p:txBody>
          <a:bodyPr wrap="square">
            <a:spAutoFit/>
          </a:bodyPr>
          <a:lstStyle/>
          <a:p>
            <a:pPr>
              <a:spcAft>
                <a:spcPts val="800"/>
              </a:spcAft>
              <a:defRPr sz="1600">
                <a:solidFill>
                  <a:srgbClr val="243447"/>
                </a:solidFill>
                <a:latin typeface="Aptos"/>
              </a:defRPr>
            </a:pPr>
            <a:r>
              <a:rPr dirty="0"/>
              <a:t>• Sales data contains the transaction-level evidence needed to understand revenue generation and profitability.</a:t>
            </a:r>
          </a:p>
          <a:p>
            <a:pPr>
              <a:spcAft>
                <a:spcPts val="800"/>
              </a:spcAft>
              <a:defRPr sz="1600">
                <a:solidFill>
                  <a:srgbClr val="243447"/>
                </a:solidFill>
                <a:latin typeface="Aptos"/>
              </a:defRPr>
            </a:pPr>
            <a:r>
              <a:rPr dirty="0"/>
              <a:t>• A consolidated dashboard makes it easier to compare performance across years, categories, states, products and customers.</a:t>
            </a:r>
          </a:p>
          <a:p>
            <a:pPr>
              <a:spcAft>
                <a:spcPts val="800"/>
              </a:spcAft>
              <a:defRPr sz="1600">
                <a:solidFill>
                  <a:srgbClr val="243447"/>
                </a:solidFill>
                <a:latin typeface="Aptos"/>
              </a:defRPr>
            </a:pPr>
            <a:r>
              <a:rPr dirty="0"/>
              <a:t>• Profit analysis is essential because high sales do not automatically translate into high profitability.</a:t>
            </a:r>
          </a:p>
          <a:p>
            <a:pPr>
              <a:spcAft>
                <a:spcPts val="800"/>
              </a:spcAft>
              <a:defRPr sz="1600">
                <a:solidFill>
                  <a:srgbClr val="243447"/>
                </a:solidFill>
                <a:latin typeface="Aptos"/>
              </a:defRPr>
            </a:pPr>
            <a:r>
              <a:rPr dirty="0"/>
              <a:t>• Customer-level analysis helps identify valuable accounts and patterns that can support retention strategies.</a:t>
            </a:r>
          </a:p>
          <a:p>
            <a:pPr>
              <a:spcAft>
                <a:spcPts val="800"/>
              </a:spcAft>
              <a:defRPr sz="1600">
                <a:solidFill>
                  <a:srgbClr val="243447"/>
                </a:solidFill>
                <a:latin typeface="Aptos"/>
              </a:defRPr>
            </a:pPr>
            <a:r>
              <a:rPr dirty="0"/>
              <a:t>• The supplied workbook provides a practical foundation for an Excel-based management dashboard.</a:t>
            </a:r>
          </a:p>
        </p:txBody>
      </p:sp>
      <p:sp>
        <p:nvSpPr>
          <p:cNvPr id="9" name="Rounded Rectangle 8"/>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869" b="1" dirty="0">
                <a:solidFill>
                  <a:srgbClr val="243447"/>
                </a:solidFill>
                <a:latin typeface="Aptos"/>
              </a:rPr>
              <a:t>The purpose of this dashboard is to convert raw sales transactions into information that can support business decisions. Instead of looking at individual transactions one by one, the dashboard brings together sales, profit, customers, products, categories, and states in one place. This makes it easier to identify strong areas and areas that need improvement.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Objectives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Key objectives of the sales dashboard project.</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5</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822960" y="141732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87552" y="157276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01</a:t>
            </a:r>
          </a:p>
        </p:txBody>
      </p:sp>
      <p:sp>
        <p:nvSpPr>
          <p:cNvPr id="10" name="TextBox 9"/>
          <p:cNvSpPr txBox="1"/>
          <p:nvPr/>
        </p:nvSpPr>
        <p:spPr>
          <a:xfrm>
            <a:off x="1536192" y="152704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Measure sales, profit, orders, units and average order value.</a:t>
            </a:r>
          </a:p>
        </p:txBody>
      </p:sp>
      <p:sp>
        <p:nvSpPr>
          <p:cNvPr id="11" name="Rounded Rectangle 10"/>
          <p:cNvSpPr/>
          <p:nvPr/>
        </p:nvSpPr>
        <p:spPr>
          <a:xfrm>
            <a:off x="6355080" y="141732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19672" y="157276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02</a:t>
            </a:r>
          </a:p>
        </p:txBody>
      </p:sp>
      <p:sp>
        <p:nvSpPr>
          <p:cNvPr id="13" name="TextBox 12"/>
          <p:cNvSpPr txBox="1"/>
          <p:nvPr/>
        </p:nvSpPr>
        <p:spPr>
          <a:xfrm>
            <a:off x="7068312" y="152704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Track year-wise and month-wise performance trends.</a:t>
            </a:r>
          </a:p>
        </p:txBody>
      </p:sp>
      <p:sp>
        <p:nvSpPr>
          <p:cNvPr id="14" name="Rounded Rectangle 13"/>
          <p:cNvSpPr/>
          <p:nvPr/>
        </p:nvSpPr>
        <p:spPr>
          <a:xfrm>
            <a:off x="822960" y="265176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87552" y="280720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03</a:t>
            </a:r>
          </a:p>
        </p:txBody>
      </p:sp>
      <p:sp>
        <p:nvSpPr>
          <p:cNvPr id="16" name="TextBox 15"/>
          <p:cNvSpPr txBox="1"/>
          <p:nvPr/>
        </p:nvSpPr>
        <p:spPr>
          <a:xfrm>
            <a:off x="1536192" y="276148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Identify high-performing categories and sub-categories.</a:t>
            </a:r>
          </a:p>
        </p:txBody>
      </p:sp>
      <p:sp>
        <p:nvSpPr>
          <p:cNvPr id="17" name="Rounded Rectangle 16"/>
          <p:cNvSpPr/>
          <p:nvPr/>
        </p:nvSpPr>
        <p:spPr>
          <a:xfrm>
            <a:off x="6355080" y="265176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19672" y="280720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04</a:t>
            </a:r>
          </a:p>
        </p:txBody>
      </p:sp>
      <p:sp>
        <p:nvSpPr>
          <p:cNvPr id="19" name="TextBox 18"/>
          <p:cNvSpPr txBox="1"/>
          <p:nvPr/>
        </p:nvSpPr>
        <p:spPr>
          <a:xfrm>
            <a:off x="7068312" y="276148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Compare state-level sales and profitability.</a:t>
            </a:r>
          </a:p>
        </p:txBody>
      </p:sp>
      <p:sp>
        <p:nvSpPr>
          <p:cNvPr id="20" name="Rounded Rectangle 19"/>
          <p:cNvSpPr/>
          <p:nvPr/>
        </p:nvSpPr>
        <p:spPr>
          <a:xfrm>
            <a:off x="822960" y="388620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87552" y="404164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05</a:t>
            </a:r>
          </a:p>
        </p:txBody>
      </p:sp>
      <p:sp>
        <p:nvSpPr>
          <p:cNvPr id="22" name="TextBox 21"/>
          <p:cNvSpPr txBox="1"/>
          <p:nvPr/>
        </p:nvSpPr>
        <p:spPr>
          <a:xfrm>
            <a:off x="1536192" y="3995928"/>
            <a:ext cx="4069080" cy="640080"/>
          </a:xfrm>
          <a:prstGeom prst="rect">
            <a:avLst/>
          </a:prstGeom>
          <a:noFill/>
        </p:spPr>
        <p:txBody>
          <a:bodyPr wrap="none" lIns="36576" tIns="36576" rIns="36576" bIns="36576" anchor="t">
            <a:spAutoFit/>
          </a:bodyPr>
          <a:lstStyle/>
          <a:p>
            <a:pPr algn="l"/>
            <a:r>
              <a:rPr sz="1300" b="1">
                <a:solidFill>
                  <a:srgbClr val="243447"/>
                </a:solidFill>
                <a:latin typeface="Aptos"/>
              </a:rPr>
              <a:t>Identify the most profitable customers.</a:t>
            </a:r>
          </a:p>
        </p:txBody>
      </p:sp>
      <p:sp>
        <p:nvSpPr>
          <p:cNvPr id="23" name="Rounded Rectangle 22"/>
          <p:cNvSpPr/>
          <p:nvPr/>
        </p:nvSpPr>
        <p:spPr>
          <a:xfrm>
            <a:off x="6355080" y="3886200"/>
            <a:ext cx="5029200" cy="9601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19672" y="4041648"/>
            <a:ext cx="438912" cy="411480"/>
          </a:xfrm>
          <a:prstGeom prst="rect">
            <a:avLst/>
          </a:prstGeom>
          <a:noFill/>
        </p:spPr>
        <p:txBody>
          <a:bodyPr wrap="none" lIns="36576" tIns="36576" rIns="36576" bIns="36576" anchor="t">
            <a:spAutoFit/>
          </a:bodyPr>
          <a:lstStyle/>
          <a:p>
            <a:pPr algn="l"/>
            <a:r>
              <a:rPr sz="1200" b="1">
                <a:solidFill>
                  <a:srgbClr val="1F9E9A"/>
                </a:solidFill>
                <a:latin typeface="Aptos"/>
              </a:rPr>
              <a:t>06</a:t>
            </a:r>
          </a:p>
        </p:txBody>
      </p:sp>
      <p:sp>
        <p:nvSpPr>
          <p:cNvPr id="25" name="TextBox 24"/>
          <p:cNvSpPr txBox="1"/>
          <p:nvPr/>
        </p:nvSpPr>
        <p:spPr>
          <a:xfrm>
            <a:off x="7068312" y="3995928"/>
            <a:ext cx="4041648" cy="473976"/>
          </a:xfrm>
          <a:prstGeom prst="rect">
            <a:avLst/>
          </a:prstGeom>
          <a:noFill/>
        </p:spPr>
        <p:txBody>
          <a:bodyPr wrap="square" lIns="36576" tIns="36576" rIns="36576" bIns="36576" anchor="t">
            <a:spAutoFit/>
          </a:bodyPr>
          <a:lstStyle/>
          <a:p>
            <a:pPr algn="l"/>
            <a:r>
              <a:rPr sz="1300" b="1" dirty="0">
                <a:solidFill>
                  <a:srgbClr val="243447"/>
                </a:solidFill>
                <a:latin typeface="Aptos"/>
              </a:rPr>
              <a:t>Convert analytical findings into actionable management recommendations.</a:t>
            </a:r>
          </a:p>
        </p:txBody>
      </p:sp>
      <p:sp>
        <p:nvSpPr>
          <p:cNvPr id="26" name="Rounded Rectangle 25"/>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The main objective is to understand how the business is performing and where the performance is coming from. I </a:t>
            </a:r>
            <a:r>
              <a:rPr sz="869" dirty="0" err="1">
                <a:solidFill>
                  <a:srgbClr val="243447"/>
                </a:solidFill>
                <a:latin typeface="Aptos"/>
              </a:rPr>
              <a:t>analysed</a:t>
            </a:r>
            <a:r>
              <a:rPr sz="869" dirty="0">
                <a:solidFill>
                  <a:srgbClr val="243447"/>
                </a:solidFill>
                <a:latin typeface="Aptos"/>
              </a:rPr>
              <a:t> sales and profit trends, category and sub-category performance, state-level performance, and customer contribution. Finally, I converted these findings into recommendations that management can use.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Dataset Description</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Structure of the supplied Sales Data sheet.</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6</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Table 7"/>
          <p:cNvGraphicFramePr>
            <a:graphicFrameLocks noGrp="1"/>
          </p:cNvGraphicFramePr>
          <p:nvPr/>
        </p:nvGraphicFramePr>
        <p:xfrm>
          <a:off x="822960" y="1463040"/>
          <a:ext cx="10424160" cy="388620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555171">
                <a:tc>
                  <a:txBody>
                    <a:bodyPr/>
                    <a:lstStyle/>
                    <a:p>
                      <a:pPr>
                        <a:defRPr sz="1200" b="1">
                          <a:solidFill>
                            <a:srgbClr val="FFFFFF"/>
                          </a:solidFill>
                          <a:latin typeface="Aptos"/>
                        </a:defRPr>
                      </a:pPr>
                      <a:r>
                        <a:t>Data Area</a:t>
                      </a:r>
                    </a:p>
                  </a:txBody>
                  <a:tcPr marL="45720" marR="45720" marT="27432" marB="27432" anchor="ctr">
                    <a:solidFill>
                      <a:srgbClr val="17365D"/>
                    </a:solidFill>
                  </a:tcPr>
                </a:tc>
                <a:tc>
                  <a:txBody>
                    <a:bodyPr/>
                    <a:lstStyle/>
                    <a:p>
                      <a:pPr>
                        <a:defRPr sz="1200" b="1">
                          <a:solidFill>
                            <a:srgbClr val="FFFFFF"/>
                          </a:solidFill>
                          <a:latin typeface="Aptos"/>
                        </a:defRPr>
                      </a:pPr>
                      <a:r>
                        <a:t>Fields / Measures</a:t>
                      </a:r>
                    </a:p>
                  </a:txBody>
                  <a:tcPr marL="45720" marR="45720" marT="27432" marB="27432" anchor="ctr">
                    <a:solidFill>
                      <a:srgbClr val="17365D"/>
                    </a:solidFill>
                  </a:tcPr>
                </a:tc>
                <a:extLst>
                  <a:ext uri="{0D108BD9-81ED-4DB2-BD59-A6C34878D82A}">
                    <a16:rowId xmlns:a16="http://schemas.microsoft.com/office/drawing/2014/main" val="10000"/>
                  </a:ext>
                </a:extLst>
              </a:tr>
              <a:tr h="555171">
                <a:tc>
                  <a:txBody>
                    <a:bodyPr/>
                    <a:lstStyle/>
                    <a:p>
                      <a:pPr>
                        <a:defRPr sz="1200" b="0">
                          <a:solidFill>
                            <a:srgbClr val="243447"/>
                          </a:solidFill>
                          <a:latin typeface="Aptos"/>
                        </a:defRPr>
                      </a:pPr>
                      <a:r>
                        <a:t>Date &amp; Time</a:t>
                      </a:r>
                    </a:p>
                  </a:txBody>
                  <a:tcPr marL="45720" marR="45720" marT="27432" marB="27432" anchor="ctr">
                    <a:solidFill>
                      <a:srgbClr val="FFFFFF"/>
                    </a:solidFill>
                  </a:tcPr>
                </a:tc>
                <a:tc>
                  <a:txBody>
                    <a:bodyPr/>
                    <a:lstStyle/>
                    <a:p>
                      <a:pPr>
                        <a:defRPr sz="1200" b="0">
                          <a:solidFill>
                            <a:srgbClr val="243447"/>
                          </a:solidFill>
                          <a:latin typeface="Aptos"/>
                        </a:defRPr>
                      </a:pPr>
                      <a:r>
                        <a:t>Order Date, Month, Year</a:t>
                      </a:r>
                    </a:p>
                  </a:txBody>
                  <a:tcPr marL="45720" marR="45720" marT="27432" marB="27432" anchor="ctr">
                    <a:solidFill>
                      <a:srgbClr val="FFFFFF"/>
                    </a:solidFill>
                  </a:tcPr>
                </a:tc>
                <a:extLst>
                  <a:ext uri="{0D108BD9-81ED-4DB2-BD59-A6C34878D82A}">
                    <a16:rowId xmlns:a16="http://schemas.microsoft.com/office/drawing/2014/main" val="10001"/>
                  </a:ext>
                </a:extLst>
              </a:tr>
              <a:tr h="555171">
                <a:tc>
                  <a:txBody>
                    <a:bodyPr/>
                    <a:lstStyle/>
                    <a:p>
                      <a:pPr>
                        <a:defRPr sz="1200" b="0">
                          <a:solidFill>
                            <a:srgbClr val="243447"/>
                          </a:solidFill>
                          <a:latin typeface="Aptos"/>
                        </a:defRPr>
                      </a:pPr>
                      <a:r>
                        <a:t>Customer</a:t>
                      </a:r>
                    </a:p>
                  </a:txBody>
                  <a:tcPr marL="45720" marR="45720" marT="27432" marB="27432" anchor="ctr">
                    <a:solidFill>
                      <a:srgbClr val="FFFFFF"/>
                    </a:solidFill>
                  </a:tcPr>
                </a:tc>
                <a:tc>
                  <a:txBody>
                    <a:bodyPr/>
                    <a:lstStyle/>
                    <a:p>
                      <a:pPr>
                        <a:defRPr sz="1200" b="0">
                          <a:solidFill>
                            <a:srgbClr val="243447"/>
                          </a:solidFill>
                          <a:latin typeface="Aptos"/>
                        </a:defRPr>
                      </a:pPr>
                      <a:r>
                        <a:t>Customer Name</a:t>
                      </a:r>
                    </a:p>
                  </a:txBody>
                  <a:tcPr marL="45720" marR="45720" marT="27432" marB="27432" anchor="ctr">
                    <a:solidFill>
                      <a:srgbClr val="FFFFFF"/>
                    </a:solidFill>
                  </a:tcPr>
                </a:tc>
                <a:extLst>
                  <a:ext uri="{0D108BD9-81ED-4DB2-BD59-A6C34878D82A}">
                    <a16:rowId xmlns:a16="http://schemas.microsoft.com/office/drawing/2014/main" val="10002"/>
                  </a:ext>
                </a:extLst>
              </a:tr>
              <a:tr h="555171">
                <a:tc>
                  <a:txBody>
                    <a:bodyPr/>
                    <a:lstStyle/>
                    <a:p>
                      <a:pPr>
                        <a:defRPr sz="1200" b="0">
                          <a:solidFill>
                            <a:srgbClr val="243447"/>
                          </a:solidFill>
                          <a:latin typeface="Aptos"/>
                        </a:defRPr>
                      </a:pPr>
                      <a:r>
                        <a:t>Geography</a:t>
                      </a:r>
                    </a:p>
                  </a:txBody>
                  <a:tcPr marL="45720" marR="45720" marT="27432" marB="27432" anchor="ctr">
                    <a:solidFill>
                      <a:srgbClr val="FFFFFF"/>
                    </a:solidFill>
                  </a:tcPr>
                </a:tc>
                <a:tc>
                  <a:txBody>
                    <a:bodyPr/>
                    <a:lstStyle/>
                    <a:p>
                      <a:pPr>
                        <a:defRPr sz="1200" b="0">
                          <a:solidFill>
                            <a:srgbClr val="243447"/>
                          </a:solidFill>
                          <a:latin typeface="Aptos"/>
                        </a:defRPr>
                      </a:pPr>
                      <a:r>
                        <a:t>State</a:t>
                      </a:r>
                    </a:p>
                  </a:txBody>
                  <a:tcPr marL="45720" marR="45720" marT="27432" marB="27432" anchor="ctr">
                    <a:solidFill>
                      <a:srgbClr val="FFFFFF"/>
                    </a:solidFill>
                  </a:tcPr>
                </a:tc>
                <a:extLst>
                  <a:ext uri="{0D108BD9-81ED-4DB2-BD59-A6C34878D82A}">
                    <a16:rowId xmlns:a16="http://schemas.microsoft.com/office/drawing/2014/main" val="10003"/>
                  </a:ext>
                </a:extLst>
              </a:tr>
              <a:tr h="555171">
                <a:tc>
                  <a:txBody>
                    <a:bodyPr/>
                    <a:lstStyle/>
                    <a:p>
                      <a:pPr>
                        <a:defRPr sz="1200" b="0">
                          <a:solidFill>
                            <a:srgbClr val="243447"/>
                          </a:solidFill>
                          <a:latin typeface="Aptos"/>
                        </a:defRPr>
                      </a:pPr>
                      <a:r>
                        <a:t>Product</a:t>
                      </a:r>
                    </a:p>
                  </a:txBody>
                  <a:tcPr marL="45720" marR="45720" marT="27432" marB="27432" anchor="ctr">
                    <a:solidFill>
                      <a:srgbClr val="FFFFFF"/>
                    </a:solidFill>
                  </a:tcPr>
                </a:tc>
                <a:tc>
                  <a:txBody>
                    <a:bodyPr/>
                    <a:lstStyle/>
                    <a:p>
                      <a:pPr>
                        <a:defRPr sz="1200" b="0">
                          <a:solidFill>
                            <a:srgbClr val="243447"/>
                          </a:solidFill>
                          <a:latin typeface="Aptos"/>
                        </a:defRPr>
                      </a:pPr>
                      <a:r>
                        <a:t>Category, Sub-Category, Product Name</a:t>
                      </a:r>
                    </a:p>
                  </a:txBody>
                  <a:tcPr marL="45720" marR="45720" marT="27432" marB="27432" anchor="ctr">
                    <a:solidFill>
                      <a:srgbClr val="FFFFFF"/>
                    </a:solidFill>
                  </a:tcPr>
                </a:tc>
                <a:extLst>
                  <a:ext uri="{0D108BD9-81ED-4DB2-BD59-A6C34878D82A}">
                    <a16:rowId xmlns:a16="http://schemas.microsoft.com/office/drawing/2014/main" val="10004"/>
                  </a:ext>
                </a:extLst>
              </a:tr>
              <a:tr h="555171">
                <a:tc>
                  <a:txBody>
                    <a:bodyPr/>
                    <a:lstStyle/>
                    <a:p>
                      <a:pPr>
                        <a:defRPr sz="1200" b="0">
                          <a:solidFill>
                            <a:srgbClr val="243447"/>
                          </a:solidFill>
                          <a:latin typeface="Aptos"/>
                        </a:defRPr>
                      </a:pPr>
                      <a:r>
                        <a:t>Commercial</a:t>
                      </a:r>
                    </a:p>
                  </a:txBody>
                  <a:tcPr marL="45720" marR="45720" marT="27432" marB="27432" anchor="ctr">
                    <a:solidFill>
                      <a:srgbClr val="FFFFFF"/>
                    </a:solidFill>
                  </a:tcPr>
                </a:tc>
                <a:tc>
                  <a:txBody>
                    <a:bodyPr/>
                    <a:lstStyle/>
                    <a:p>
                      <a:pPr>
                        <a:defRPr sz="1200" b="0">
                          <a:solidFill>
                            <a:srgbClr val="243447"/>
                          </a:solidFill>
                          <a:latin typeface="Aptos"/>
                        </a:defRPr>
                      </a:pPr>
                      <a:r>
                        <a:t>Sales, Quantity, Profit</a:t>
                      </a:r>
                    </a:p>
                  </a:txBody>
                  <a:tcPr marL="45720" marR="45720" marT="27432" marB="27432" anchor="ctr">
                    <a:solidFill>
                      <a:srgbClr val="FFFFFF"/>
                    </a:solidFill>
                  </a:tcPr>
                </a:tc>
                <a:extLst>
                  <a:ext uri="{0D108BD9-81ED-4DB2-BD59-A6C34878D82A}">
                    <a16:rowId xmlns:a16="http://schemas.microsoft.com/office/drawing/2014/main" val="10005"/>
                  </a:ext>
                </a:extLst>
              </a:tr>
              <a:tr h="555174">
                <a:tc>
                  <a:txBody>
                    <a:bodyPr/>
                    <a:lstStyle/>
                    <a:p>
                      <a:pPr>
                        <a:defRPr sz="1200" b="0">
                          <a:solidFill>
                            <a:srgbClr val="243447"/>
                          </a:solidFill>
                          <a:latin typeface="Aptos"/>
                        </a:defRPr>
                      </a:pPr>
                      <a:r>
                        <a:t>Dataset Size</a:t>
                      </a:r>
                    </a:p>
                  </a:txBody>
                  <a:tcPr marL="45720" marR="45720" marT="27432" marB="27432" anchor="ctr">
                    <a:solidFill>
                      <a:srgbClr val="FFFFFF"/>
                    </a:solidFill>
                  </a:tcPr>
                </a:tc>
                <a:tc>
                  <a:txBody>
                    <a:bodyPr/>
                    <a:lstStyle/>
                    <a:p>
                      <a:pPr>
                        <a:defRPr sz="1200" b="0">
                          <a:solidFill>
                            <a:srgbClr val="243447"/>
                          </a:solidFill>
                          <a:latin typeface="Aptos"/>
                        </a:defRPr>
                      </a:pPr>
                      <a:r>
                        <a:t>9,993 records • 793 customers • 37,871 units</a:t>
                      </a:r>
                    </a:p>
                  </a:txBody>
                  <a:tcPr marL="45720" marR="45720" marT="27432" marB="27432" anchor="ctr">
                    <a:solidFill>
                      <a:srgbClr val="FFFFFF"/>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822960" y="5577840"/>
            <a:ext cx="10058400" cy="411480"/>
          </a:xfrm>
          <a:prstGeom prst="rect">
            <a:avLst/>
          </a:prstGeom>
          <a:noFill/>
        </p:spPr>
        <p:txBody>
          <a:bodyPr wrap="none" lIns="36576" tIns="36576" rIns="36576" bIns="36576" anchor="t">
            <a:spAutoFit/>
          </a:bodyPr>
          <a:lstStyle/>
          <a:p>
            <a:pPr algn="l"/>
            <a:r>
              <a:rPr sz="1000" b="0">
                <a:solidFill>
                  <a:srgbClr val="67707E"/>
                </a:solidFill>
                <a:latin typeface="Aptos"/>
              </a:rPr>
              <a:t>Primary source: Sales Data sheet from the supplied Excel dashboard workbook.</a:t>
            </a:r>
          </a:p>
        </p:txBody>
      </p:sp>
      <p:sp>
        <p:nvSpPr>
          <p:cNvPr id="10" name="Rounded Rectangle 9"/>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The main source for this project is the Sales Data sheet. It contains the order date, customer, state, product category, sub-category, sales, quantity, and profit. There are 9,993 records, 793 customers, and 37,871 units, providing transaction-level information for detailed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Methodology</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Transaction data → KPIs → segmentation → dashboard → recommendations.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7</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594360" y="150876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645919"/>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1</a:t>
            </a:r>
          </a:p>
        </p:txBody>
      </p:sp>
      <p:sp>
        <p:nvSpPr>
          <p:cNvPr id="10" name="TextBox 9"/>
          <p:cNvSpPr txBox="1"/>
          <p:nvPr/>
        </p:nvSpPr>
        <p:spPr>
          <a:xfrm>
            <a:off x="731520" y="201168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Data Collection</a:t>
            </a:r>
          </a:p>
        </p:txBody>
      </p:sp>
      <p:sp>
        <p:nvSpPr>
          <p:cNvPr id="11" name="TextBox 10"/>
          <p:cNvSpPr txBox="1"/>
          <p:nvPr/>
        </p:nvSpPr>
        <p:spPr>
          <a:xfrm>
            <a:off x="731520" y="240487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Raw sales records</a:t>
            </a:r>
          </a:p>
        </p:txBody>
      </p:sp>
      <p:sp>
        <p:nvSpPr>
          <p:cNvPr id="12" name="Rounded Rectangle 11"/>
          <p:cNvSpPr/>
          <p:nvPr/>
        </p:nvSpPr>
        <p:spPr>
          <a:xfrm>
            <a:off x="3383279" y="150876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520439" y="1645919"/>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2</a:t>
            </a:r>
          </a:p>
        </p:txBody>
      </p:sp>
      <p:sp>
        <p:nvSpPr>
          <p:cNvPr id="14" name="TextBox 13"/>
          <p:cNvSpPr txBox="1"/>
          <p:nvPr/>
        </p:nvSpPr>
        <p:spPr>
          <a:xfrm>
            <a:off x="3520439" y="201168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Data Preparation</a:t>
            </a:r>
          </a:p>
        </p:txBody>
      </p:sp>
      <p:sp>
        <p:nvSpPr>
          <p:cNvPr id="15" name="TextBox 14"/>
          <p:cNvSpPr txBox="1"/>
          <p:nvPr/>
        </p:nvSpPr>
        <p:spPr>
          <a:xfrm>
            <a:off x="3520439" y="240487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Dates &amp; fields</a:t>
            </a:r>
          </a:p>
        </p:txBody>
      </p:sp>
      <p:sp>
        <p:nvSpPr>
          <p:cNvPr id="16" name="Rounded Rectangle 15"/>
          <p:cNvSpPr/>
          <p:nvPr/>
        </p:nvSpPr>
        <p:spPr>
          <a:xfrm>
            <a:off x="6172200" y="150876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645919"/>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3</a:t>
            </a:r>
          </a:p>
        </p:txBody>
      </p:sp>
      <p:sp>
        <p:nvSpPr>
          <p:cNvPr id="18" name="TextBox 17"/>
          <p:cNvSpPr txBox="1"/>
          <p:nvPr/>
        </p:nvSpPr>
        <p:spPr>
          <a:xfrm>
            <a:off x="6309360" y="201168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KPI Calculation</a:t>
            </a:r>
          </a:p>
        </p:txBody>
      </p:sp>
      <p:sp>
        <p:nvSpPr>
          <p:cNvPr id="19" name="TextBox 18"/>
          <p:cNvSpPr txBox="1"/>
          <p:nvPr/>
        </p:nvSpPr>
        <p:spPr>
          <a:xfrm>
            <a:off x="6309360" y="240487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Sales, profit, AOV</a:t>
            </a:r>
          </a:p>
        </p:txBody>
      </p:sp>
      <p:sp>
        <p:nvSpPr>
          <p:cNvPr id="20" name="Rounded Rectangle 19"/>
          <p:cNvSpPr/>
          <p:nvPr/>
        </p:nvSpPr>
        <p:spPr>
          <a:xfrm>
            <a:off x="8961119" y="150876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98280" y="1645919"/>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4</a:t>
            </a:r>
          </a:p>
        </p:txBody>
      </p:sp>
      <p:sp>
        <p:nvSpPr>
          <p:cNvPr id="22" name="TextBox 21"/>
          <p:cNvSpPr txBox="1"/>
          <p:nvPr/>
        </p:nvSpPr>
        <p:spPr>
          <a:xfrm>
            <a:off x="9098280" y="201168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Segmentation</a:t>
            </a:r>
          </a:p>
        </p:txBody>
      </p:sp>
      <p:sp>
        <p:nvSpPr>
          <p:cNvPr id="23" name="TextBox 22"/>
          <p:cNvSpPr txBox="1"/>
          <p:nvPr/>
        </p:nvSpPr>
        <p:spPr>
          <a:xfrm>
            <a:off x="9098280" y="240487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State, category, customer</a:t>
            </a:r>
          </a:p>
        </p:txBody>
      </p:sp>
      <p:sp>
        <p:nvSpPr>
          <p:cNvPr id="24" name="Rounded Rectangle 23"/>
          <p:cNvSpPr/>
          <p:nvPr/>
        </p:nvSpPr>
        <p:spPr>
          <a:xfrm>
            <a:off x="594360" y="352044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657600"/>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5</a:t>
            </a:r>
          </a:p>
        </p:txBody>
      </p:sp>
      <p:sp>
        <p:nvSpPr>
          <p:cNvPr id="26" name="TextBox 25"/>
          <p:cNvSpPr txBox="1"/>
          <p:nvPr/>
        </p:nvSpPr>
        <p:spPr>
          <a:xfrm>
            <a:off x="731520" y="402336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Trend Analysis</a:t>
            </a:r>
          </a:p>
        </p:txBody>
      </p:sp>
      <p:sp>
        <p:nvSpPr>
          <p:cNvPr id="27" name="TextBox 26"/>
          <p:cNvSpPr txBox="1"/>
          <p:nvPr/>
        </p:nvSpPr>
        <p:spPr>
          <a:xfrm>
            <a:off x="731520" y="441655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Year &amp; month</a:t>
            </a:r>
          </a:p>
        </p:txBody>
      </p:sp>
      <p:sp>
        <p:nvSpPr>
          <p:cNvPr id="28" name="Rounded Rectangle 27"/>
          <p:cNvSpPr/>
          <p:nvPr/>
        </p:nvSpPr>
        <p:spPr>
          <a:xfrm>
            <a:off x="3383279" y="352044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520439" y="3657600"/>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6</a:t>
            </a:r>
          </a:p>
        </p:txBody>
      </p:sp>
      <p:sp>
        <p:nvSpPr>
          <p:cNvPr id="30" name="TextBox 29"/>
          <p:cNvSpPr txBox="1"/>
          <p:nvPr/>
        </p:nvSpPr>
        <p:spPr>
          <a:xfrm>
            <a:off x="3520439" y="402336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Profitability</a:t>
            </a:r>
          </a:p>
        </p:txBody>
      </p:sp>
      <p:sp>
        <p:nvSpPr>
          <p:cNvPr id="31" name="TextBox 30"/>
          <p:cNvSpPr txBox="1"/>
          <p:nvPr/>
        </p:nvSpPr>
        <p:spPr>
          <a:xfrm>
            <a:off x="3520439" y="441655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Profit pools &amp; losses</a:t>
            </a:r>
          </a:p>
        </p:txBody>
      </p:sp>
      <p:sp>
        <p:nvSpPr>
          <p:cNvPr id="32" name="Rounded Rectangle 31"/>
          <p:cNvSpPr/>
          <p:nvPr/>
        </p:nvSpPr>
        <p:spPr>
          <a:xfrm>
            <a:off x="6172200" y="352044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309360" y="3657600"/>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7</a:t>
            </a:r>
          </a:p>
        </p:txBody>
      </p:sp>
      <p:sp>
        <p:nvSpPr>
          <p:cNvPr id="34" name="TextBox 33"/>
          <p:cNvSpPr txBox="1"/>
          <p:nvPr/>
        </p:nvSpPr>
        <p:spPr>
          <a:xfrm>
            <a:off x="6309360" y="402336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Dashboard</a:t>
            </a:r>
          </a:p>
        </p:txBody>
      </p:sp>
      <p:sp>
        <p:nvSpPr>
          <p:cNvPr id="35" name="TextBox 34"/>
          <p:cNvSpPr txBox="1"/>
          <p:nvPr/>
        </p:nvSpPr>
        <p:spPr>
          <a:xfrm>
            <a:off x="6309360" y="441655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KPIs, charts &amp; tables</a:t>
            </a:r>
          </a:p>
        </p:txBody>
      </p:sp>
      <p:sp>
        <p:nvSpPr>
          <p:cNvPr id="36" name="Rounded Rectangle 35"/>
          <p:cNvSpPr/>
          <p:nvPr/>
        </p:nvSpPr>
        <p:spPr>
          <a:xfrm>
            <a:off x="8961119" y="3520440"/>
            <a:ext cx="2514600" cy="1417320"/>
          </a:xfrm>
          <a:prstGeom prst="roundRect">
            <a:avLst/>
          </a:prstGeom>
          <a:solidFill>
            <a:srgbClr val="FFFFFF"/>
          </a:solidFill>
          <a:ln>
            <a:solidFill>
              <a:srgbClr val="D9E2F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98280" y="3657600"/>
            <a:ext cx="384048" cy="320040"/>
          </a:xfrm>
          <a:prstGeom prst="rect">
            <a:avLst/>
          </a:prstGeom>
          <a:noFill/>
        </p:spPr>
        <p:txBody>
          <a:bodyPr wrap="none" lIns="36576" tIns="36576" rIns="36576" bIns="36576" anchor="t">
            <a:spAutoFit/>
          </a:bodyPr>
          <a:lstStyle/>
          <a:p>
            <a:pPr algn="l"/>
            <a:r>
              <a:rPr sz="1100" b="1">
                <a:solidFill>
                  <a:srgbClr val="1F9E9A"/>
                </a:solidFill>
                <a:latin typeface="Aptos"/>
              </a:rPr>
              <a:t>8</a:t>
            </a:r>
          </a:p>
        </p:txBody>
      </p:sp>
      <p:sp>
        <p:nvSpPr>
          <p:cNvPr id="38" name="TextBox 37"/>
          <p:cNvSpPr txBox="1"/>
          <p:nvPr/>
        </p:nvSpPr>
        <p:spPr>
          <a:xfrm>
            <a:off x="9098280" y="4023360"/>
            <a:ext cx="2240280" cy="320040"/>
          </a:xfrm>
          <a:prstGeom prst="rect">
            <a:avLst/>
          </a:prstGeom>
          <a:noFill/>
        </p:spPr>
        <p:txBody>
          <a:bodyPr wrap="none" lIns="36576" tIns="36576" rIns="36576" bIns="36576" anchor="t">
            <a:spAutoFit/>
          </a:bodyPr>
          <a:lstStyle/>
          <a:p>
            <a:pPr algn="l"/>
            <a:r>
              <a:rPr sz="1300" b="1">
                <a:solidFill>
                  <a:srgbClr val="243447"/>
                </a:solidFill>
                <a:latin typeface="Aptos"/>
              </a:rPr>
              <a:t>Insights</a:t>
            </a:r>
          </a:p>
        </p:txBody>
      </p:sp>
      <p:sp>
        <p:nvSpPr>
          <p:cNvPr id="39" name="TextBox 38"/>
          <p:cNvSpPr txBox="1"/>
          <p:nvPr/>
        </p:nvSpPr>
        <p:spPr>
          <a:xfrm>
            <a:off x="9098280" y="4416552"/>
            <a:ext cx="2240280" cy="274320"/>
          </a:xfrm>
          <a:prstGeom prst="rect">
            <a:avLst/>
          </a:prstGeom>
          <a:noFill/>
        </p:spPr>
        <p:txBody>
          <a:bodyPr wrap="none" lIns="36576" tIns="36576" rIns="36576" bIns="36576" anchor="t">
            <a:spAutoFit/>
          </a:bodyPr>
          <a:lstStyle/>
          <a:p>
            <a:pPr algn="l"/>
            <a:r>
              <a:rPr sz="900" b="0">
                <a:solidFill>
                  <a:srgbClr val="67707E"/>
                </a:solidFill>
                <a:latin typeface="Aptos"/>
              </a:rPr>
              <a:t>Actions &amp; priorities</a:t>
            </a:r>
          </a:p>
        </p:txBody>
      </p:sp>
      <p:sp>
        <p:nvSpPr>
          <p:cNvPr id="40" name="TextBox 39"/>
          <p:cNvSpPr txBox="1"/>
          <p:nvPr/>
        </p:nvSpPr>
        <p:spPr>
          <a:xfrm>
            <a:off x="685800" y="5806440"/>
            <a:ext cx="10698480" cy="320040"/>
          </a:xfrm>
          <a:prstGeom prst="rect">
            <a:avLst/>
          </a:prstGeom>
          <a:noFill/>
        </p:spPr>
        <p:txBody>
          <a:bodyPr wrap="none" lIns="36576" tIns="36576" rIns="36576" bIns="36576" anchor="t">
            <a:spAutoFit/>
          </a:bodyPr>
          <a:lstStyle/>
          <a:p>
            <a:pPr algn="l"/>
            <a:r>
              <a:rPr sz="1000" b="1">
                <a:solidFill>
                  <a:srgbClr val="67707E"/>
                </a:solidFill>
                <a:latin typeface="Aptos"/>
              </a:rPr>
              <a:t>Analytical principle: numerical findings are calculated directly from the supplied transaction-level data.</a:t>
            </a:r>
          </a:p>
        </p:txBody>
      </p:sp>
      <p:sp>
        <p:nvSpPr>
          <p:cNvPr id="41" name="Rounded Rectangle 40"/>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I followed a step-by-step analytical process. First, I collected and prepared the sales records. Then I calculated the main KPIs and grouped the data by state, category, customer, and time. After </a:t>
            </a:r>
            <a:r>
              <a:rPr sz="869" dirty="0" err="1">
                <a:solidFill>
                  <a:srgbClr val="243447"/>
                </a:solidFill>
                <a:latin typeface="Aptos"/>
              </a:rPr>
              <a:t>analysing</a:t>
            </a:r>
            <a:r>
              <a:rPr sz="869" dirty="0">
                <a:solidFill>
                  <a:srgbClr val="243447"/>
                </a:solidFill>
                <a:latin typeface="Aptos"/>
              </a:rPr>
              <a:t> trends and profitability, I presented the results through the dashboard and converted the important findings into business recommendations.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KPI Scorecard</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Core measures calculated directly from the supplied workbook.</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8</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731520" y="1508760"/>
            <a:ext cx="3337560" cy="1508760"/>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1627631"/>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TOTAL SALES</a:t>
            </a:r>
          </a:p>
        </p:txBody>
      </p:sp>
      <p:sp>
        <p:nvSpPr>
          <p:cNvPr id="10" name="TextBox 9"/>
          <p:cNvSpPr txBox="1"/>
          <p:nvPr/>
        </p:nvSpPr>
        <p:spPr>
          <a:xfrm>
            <a:off x="877824" y="192024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$2,296,920</a:t>
            </a:r>
          </a:p>
        </p:txBody>
      </p:sp>
      <p:sp>
        <p:nvSpPr>
          <p:cNvPr id="11" name="TextBox 10"/>
          <p:cNvSpPr txBox="1"/>
          <p:nvPr/>
        </p:nvSpPr>
        <p:spPr>
          <a:xfrm>
            <a:off x="877824" y="246888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Gross revenue</a:t>
            </a:r>
          </a:p>
        </p:txBody>
      </p:sp>
      <p:sp>
        <p:nvSpPr>
          <p:cNvPr id="12" name="Rounded Rectangle 11"/>
          <p:cNvSpPr/>
          <p:nvPr/>
        </p:nvSpPr>
        <p:spPr>
          <a:xfrm>
            <a:off x="4434840" y="1508760"/>
            <a:ext cx="3337560" cy="1508760"/>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81144" y="1627631"/>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TOTAL PROFIT</a:t>
            </a:r>
          </a:p>
        </p:txBody>
      </p:sp>
      <p:sp>
        <p:nvSpPr>
          <p:cNvPr id="14" name="TextBox 13"/>
          <p:cNvSpPr txBox="1"/>
          <p:nvPr/>
        </p:nvSpPr>
        <p:spPr>
          <a:xfrm>
            <a:off x="4581144" y="192024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$286,410</a:t>
            </a:r>
          </a:p>
        </p:txBody>
      </p:sp>
      <p:sp>
        <p:nvSpPr>
          <p:cNvPr id="15" name="TextBox 14"/>
          <p:cNvSpPr txBox="1"/>
          <p:nvPr/>
        </p:nvSpPr>
        <p:spPr>
          <a:xfrm>
            <a:off x="4581144" y="246888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12.5% margin</a:t>
            </a:r>
          </a:p>
        </p:txBody>
      </p:sp>
      <p:sp>
        <p:nvSpPr>
          <p:cNvPr id="16" name="Rounded Rectangle 15"/>
          <p:cNvSpPr/>
          <p:nvPr/>
        </p:nvSpPr>
        <p:spPr>
          <a:xfrm>
            <a:off x="8138160" y="1508760"/>
            <a:ext cx="3337560" cy="1508760"/>
          </a:xfrm>
          <a:prstGeom prst="roundRect">
            <a:avLst/>
          </a:prstGeom>
          <a:solidFill>
            <a:srgbClr val="F28E2B"/>
          </a:solidFill>
          <a:ln>
            <a:solidFill>
              <a:srgbClr val="F28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84464" y="1627631"/>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ORDERS</a:t>
            </a:r>
          </a:p>
        </p:txBody>
      </p:sp>
      <p:sp>
        <p:nvSpPr>
          <p:cNvPr id="18" name="TextBox 17"/>
          <p:cNvSpPr txBox="1"/>
          <p:nvPr/>
        </p:nvSpPr>
        <p:spPr>
          <a:xfrm>
            <a:off x="8284464" y="192024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9,993</a:t>
            </a:r>
          </a:p>
        </p:txBody>
      </p:sp>
      <p:sp>
        <p:nvSpPr>
          <p:cNvPr id="19" name="TextBox 18"/>
          <p:cNvSpPr txBox="1"/>
          <p:nvPr/>
        </p:nvSpPr>
        <p:spPr>
          <a:xfrm>
            <a:off x="8284464" y="246888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Unique transaction records</a:t>
            </a:r>
          </a:p>
        </p:txBody>
      </p:sp>
      <p:sp>
        <p:nvSpPr>
          <p:cNvPr id="20" name="Rounded Rectangle 19"/>
          <p:cNvSpPr/>
          <p:nvPr/>
        </p:nvSpPr>
        <p:spPr>
          <a:xfrm>
            <a:off x="731520" y="3429000"/>
            <a:ext cx="3337560" cy="1508760"/>
          </a:xfrm>
          <a:prstGeom prst="roundRect">
            <a:avLst/>
          </a:prstGeom>
          <a:solidFill>
            <a:srgbClr val="234A73"/>
          </a:solidFill>
          <a:ln>
            <a:solidFill>
              <a:srgbClr val="23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77824" y="3547872"/>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CUSTOMERS</a:t>
            </a:r>
          </a:p>
        </p:txBody>
      </p:sp>
      <p:sp>
        <p:nvSpPr>
          <p:cNvPr id="22" name="TextBox 21"/>
          <p:cNvSpPr txBox="1"/>
          <p:nvPr/>
        </p:nvSpPr>
        <p:spPr>
          <a:xfrm>
            <a:off x="877824" y="384048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793</a:t>
            </a:r>
          </a:p>
        </p:txBody>
      </p:sp>
      <p:sp>
        <p:nvSpPr>
          <p:cNvPr id="23" name="TextBox 22"/>
          <p:cNvSpPr txBox="1"/>
          <p:nvPr/>
        </p:nvSpPr>
        <p:spPr>
          <a:xfrm>
            <a:off x="877824" y="438912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Unique customer names</a:t>
            </a:r>
          </a:p>
        </p:txBody>
      </p:sp>
      <p:sp>
        <p:nvSpPr>
          <p:cNvPr id="24" name="Rounded Rectangle 23"/>
          <p:cNvSpPr/>
          <p:nvPr/>
        </p:nvSpPr>
        <p:spPr>
          <a:xfrm>
            <a:off x="4434840" y="3429000"/>
            <a:ext cx="3337560" cy="1508760"/>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81144" y="3547872"/>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UNITS SOLD</a:t>
            </a:r>
          </a:p>
        </p:txBody>
      </p:sp>
      <p:sp>
        <p:nvSpPr>
          <p:cNvPr id="26" name="TextBox 25"/>
          <p:cNvSpPr txBox="1"/>
          <p:nvPr/>
        </p:nvSpPr>
        <p:spPr>
          <a:xfrm>
            <a:off x="4581144" y="384048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37,871</a:t>
            </a:r>
          </a:p>
        </p:txBody>
      </p:sp>
      <p:sp>
        <p:nvSpPr>
          <p:cNvPr id="27" name="TextBox 26"/>
          <p:cNvSpPr txBox="1"/>
          <p:nvPr/>
        </p:nvSpPr>
        <p:spPr>
          <a:xfrm>
            <a:off x="4581144" y="438912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Total quantity</a:t>
            </a:r>
          </a:p>
        </p:txBody>
      </p:sp>
      <p:sp>
        <p:nvSpPr>
          <p:cNvPr id="28" name="Rounded Rectangle 27"/>
          <p:cNvSpPr/>
          <p:nvPr/>
        </p:nvSpPr>
        <p:spPr>
          <a:xfrm>
            <a:off x="8138160" y="3429000"/>
            <a:ext cx="3337560" cy="1508760"/>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84464" y="3547872"/>
            <a:ext cx="3044952" cy="201168"/>
          </a:xfrm>
          <a:prstGeom prst="rect">
            <a:avLst/>
          </a:prstGeom>
          <a:noFill/>
        </p:spPr>
        <p:txBody>
          <a:bodyPr wrap="none" lIns="36576" tIns="36576" rIns="36576" bIns="36576" anchor="t">
            <a:spAutoFit/>
          </a:bodyPr>
          <a:lstStyle/>
          <a:p>
            <a:pPr algn="l"/>
            <a:r>
              <a:rPr sz="900" b="1">
                <a:solidFill>
                  <a:srgbClr val="FFFFFF"/>
                </a:solidFill>
                <a:latin typeface="Aptos"/>
              </a:rPr>
              <a:t>AVERAGE ORDER VALUE</a:t>
            </a:r>
          </a:p>
        </p:txBody>
      </p:sp>
      <p:sp>
        <p:nvSpPr>
          <p:cNvPr id="30" name="TextBox 29"/>
          <p:cNvSpPr txBox="1"/>
          <p:nvPr/>
        </p:nvSpPr>
        <p:spPr>
          <a:xfrm>
            <a:off x="8284464" y="3840480"/>
            <a:ext cx="3044952" cy="475488"/>
          </a:xfrm>
          <a:prstGeom prst="rect">
            <a:avLst/>
          </a:prstGeom>
          <a:noFill/>
        </p:spPr>
        <p:txBody>
          <a:bodyPr wrap="none" lIns="36576" tIns="36576" rIns="36576" bIns="36576" anchor="t">
            <a:spAutoFit/>
          </a:bodyPr>
          <a:lstStyle/>
          <a:p>
            <a:pPr algn="l"/>
            <a:r>
              <a:rPr sz="2200" b="1">
                <a:solidFill>
                  <a:srgbClr val="FFFFFF"/>
                </a:solidFill>
                <a:latin typeface="Aptos Display"/>
              </a:rPr>
              <a:t>$230</a:t>
            </a:r>
          </a:p>
        </p:txBody>
      </p:sp>
      <p:sp>
        <p:nvSpPr>
          <p:cNvPr id="31" name="TextBox 30"/>
          <p:cNvSpPr txBox="1"/>
          <p:nvPr/>
        </p:nvSpPr>
        <p:spPr>
          <a:xfrm>
            <a:off x="8284464" y="4389120"/>
            <a:ext cx="3044952" cy="256032"/>
          </a:xfrm>
          <a:prstGeom prst="rect">
            <a:avLst/>
          </a:prstGeom>
          <a:noFill/>
        </p:spPr>
        <p:txBody>
          <a:bodyPr wrap="none" lIns="36576" tIns="36576" rIns="36576" bIns="36576" anchor="t">
            <a:spAutoFit/>
          </a:bodyPr>
          <a:lstStyle/>
          <a:p>
            <a:pPr algn="l"/>
            <a:r>
              <a:rPr sz="850" b="0">
                <a:solidFill>
                  <a:srgbClr val="FFFFFF"/>
                </a:solidFill>
                <a:latin typeface="Aptos"/>
              </a:rPr>
              <a:t>Sales ÷ orders</a:t>
            </a:r>
          </a:p>
        </p:txBody>
      </p:sp>
      <p:sp>
        <p:nvSpPr>
          <p:cNvPr id="32" name="Rounded Rectangle 31"/>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These are the main KPIs used throughout the project. Total sales show overall revenue generated, while total profit shows the recorded profit. Orders and customers show business volume, units show quantity sold, and average order value tells us the average sales generated per transaction.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Revenue &amp; Profit Trend</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Year-wise commercial performance across the available data period.</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9</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nvGraphicFramePr>
        <p:xfrm>
          <a:off x="640080" y="1417320"/>
          <a:ext cx="6400800" cy="4343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p:cNvGraphicFramePr>
            <a:graphicFrameLocks noGrp="1"/>
          </p:cNvGraphicFramePr>
          <p:nvPr/>
        </p:nvGraphicFramePr>
        <p:xfrm>
          <a:off x="7269480" y="1417320"/>
          <a:ext cx="425196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p:cNvSpPr txBox="1"/>
          <p:nvPr/>
        </p:nvSpPr>
        <p:spPr>
          <a:xfrm>
            <a:off x="777240" y="5852160"/>
            <a:ext cx="10515600" cy="320040"/>
          </a:xfrm>
          <a:prstGeom prst="rect">
            <a:avLst/>
          </a:prstGeom>
          <a:noFill/>
        </p:spPr>
        <p:txBody>
          <a:bodyPr wrap="none" lIns="36576" tIns="36576" rIns="36576" bIns="36576" anchor="t">
            <a:spAutoFit/>
          </a:bodyPr>
          <a:lstStyle/>
          <a:p>
            <a:pPr algn="l"/>
            <a:r>
              <a:rPr sz="1000" b="1">
                <a:solidFill>
                  <a:srgbClr val="243447"/>
                </a:solidFill>
                <a:latin typeface="Aptos"/>
              </a:rPr>
              <a:t>2023 peak: $733,215 sales and $93,440 profit.</a:t>
            </a:r>
          </a:p>
        </p:txBody>
      </p:sp>
      <p:sp>
        <p:nvSpPr>
          <p:cNvPr id="11" name="Rounded Rectangle 10"/>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869" dirty="0">
                <a:solidFill>
                  <a:srgbClr val="243447"/>
                </a:solidFill>
                <a:latin typeface="Aptos"/>
              </a:rPr>
              <a:t>This slide shows how sales and profit changed from 2020 to 2023. Sales increased to the highest level in 2023, reaching about $733 thousand, while profit also reached its highest value at about $93 thousand. This indicates that 2023 generated the strongest overall commercial performance in the dataset.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Monthly Sales Trend</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Monthly sales concentration across the full analysis period.</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10</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extLst>
              <p:ext uri="{D42A27DB-BD31-4B8C-83A1-F6EECF244321}">
                <p14:modId xmlns:p14="http://schemas.microsoft.com/office/powerpoint/2010/main" val="1094196867"/>
              </p:ext>
            </p:extLst>
          </p:nvPr>
        </p:nvGraphicFramePr>
        <p:xfrm>
          <a:off x="594360" y="1417320"/>
          <a:ext cx="10972800" cy="4384548"/>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731520" y="5797296"/>
            <a:ext cx="10607040" cy="274320"/>
          </a:xfrm>
          <a:prstGeom prst="rect">
            <a:avLst/>
          </a:prstGeom>
          <a:noFill/>
        </p:spPr>
        <p:txBody>
          <a:bodyPr wrap="none" lIns="36576" tIns="36576" rIns="36576" bIns="36576" anchor="t">
            <a:spAutoFit/>
          </a:bodyPr>
          <a:lstStyle/>
          <a:p>
            <a:pPr algn="l"/>
            <a:r>
              <a:rPr sz="1000" b="1" dirty="0">
                <a:solidFill>
                  <a:srgbClr val="243447"/>
                </a:solidFill>
                <a:latin typeface="Aptos"/>
              </a:rPr>
              <a:t>Peak month: 2023-11 with $118,448 in sales.</a:t>
            </a:r>
          </a:p>
        </p:txBody>
      </p:sp>
      <p:sp>
        <p:nvSpPr>
          <p:cNvPr id="10" name="Rounded Rectangle 9"/>
          <p:cNvSpPr/>
          <p:nvPr/>
        </p:nvSpPr>
        <p:spPr>
          <a:xfrm>
            <a:off x="746034" y="6108192"/>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Here I have moved from yearly performance to monthly performance. The purpose is to identify periods of stronger and weaker sales activity. The highest monthly sales occurred in November 2023 at approximately $118 thousand, which can be useful when planning inventory, promotions, and sales campaigns.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Regional / State Performance</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Sales concentration and profitability across the highest-value states.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11</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nvGraphicFramePr>
        <p:xfrm>
          <a:off x="594360" y="1417320"/>
          <a:ext cx="5852160" cy="4389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a:graphicFrameLocks noGrp="1"/>
          </p:cNvGraphicFramePr>
          <p:nvPr/>
        </p:nvGraphicFramePr>
        <p:xfrm>
          <a:off x="6720840" y="1508760"/>
          <a:ext cx="5120640" cy="384048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548640">
                <a:tc>
                  <a:txBody>
                    <a:bodyPr/>
                    <a:lstStyle/>
                    <a:p>
                      <a:pPr>
                        <a:defRPr sz="1000" b="1">
                          <a:solidFill>
                            <a:srgbClr val="FFFFFF"/>
                          </a:solidFill>
                          <a:latin typeface="Aptos"/>
                        </a:defRPr>
                      </a:pPr>
                      <a:r>
                        <a:t>State</a:t>
                      </a:r>
                    </a:p>
                  </a:txBody>
                  <a:tcPr marL="45720" marR="45720" marT="27432" marB="27432" anchor="ctr">
                    <a:solidFill>
                      <a:srgbClr val="17365D"/>
                    </a:solidFill>
                  </a:tcPr>
                </a:tc>
                <a:tc>
                  <a:txBody>
                    <a:bodyPr/>
                    <a:lstStyle/>
                    <a:p>
                      <a:pPr>
                        <a:defRPr sz="1000" b="1">
                          <a:solidFill>
                            <a:srgbClr val="FFFFFF"/>
                          </a:solidFill>
                          <a:latin typeface="Aptos"/>
                        </a:defRPr>
                      </a:pPr>
                      <a:r>
                        <a:t>Sales</a:t>
                      </a:r>
                    </a:p>
                  </a:txBody>
                  <a:tcPr marL="45720" marR="45720" marT="27432" marB="27432" anchor="ctr">
                    <a:solidFill>
                      <a:srgbClr val="17365D"/>
                    </a:solidFill>
                  </a:tcPr>
                </a:tc>
                <a:tc>
                  <a:txBody>
                    <a:bodyPr/>
                    <a:lstStyle/>
                    <a:p>
                      <a:pPr>
                        <a:defRPr sz="1000" b="1">
                          <a:solidFill>
                            <a:srgbClr val="FFFFFF"/>
                          </a:solidFill>
                          <a:latin typeface="Aptos"/>
                        </a:defRPr>
                      </a:pPr>
                      <a:r>
                        <a:t>Profit</a:t>
                      </a:r>
                    </a:p>
                  </a:txBody>
                  <a:tcPr marL="45720" marR="45720" marT="27432" marB="27432" anchor="ctr">
                    <a:solidFill>
                      <a:srgbClr val="17365D"/>
                    </a:solidFill>
                  </a:tcPr>
                </a:tc>
                <a:tc>
                  <a:txBody>
                    <a:bodyPr/>
                    <a:lstStyle/>
                    <a:p>
                      <a:pPr>
                        <a:defRPr sz="1000" b="1">
                          <a:solidFill>
                            <a:srgbClr val="FFFFFF"/>
                          </a:solidFill>
                          <a:latin typeface="Aptos"/>
                        </a:defRPr>
                      </a:pPr>
                      <a:r>
                        <a:t>Orders</a:t>
                      </a:r>
                    </a:p>
                  </a:txBody>
                  <a:tcPr marL="45720" marR="45720" marT="27432" marB="27432" anchor="ctr">
                    <a:solidFill>
                      <a:srgbClr val="17365D"/>
                    </a:solidFill>
                  </a:tcPr>
                </a:tc>
                <a:extLst>
                  <a:ext uri="{0D108BD9-81ED-4DB2-BD59-A6C34878D82A}">
                    <a16:rowId xmlns:a16="http://schemas.microsoft.com/office/drawing/2014/main" val="10000"/>
                  </a:ext>
                </a:extLst>
              </a:tr>
              <a:tr h="548640">
                <a:tc>
                  <a:txBody>
                    <a:bodyPr/>
                    <a:lstStyle/>
                    <a:p>
                      <a:pPr>
                        <a:defRPr sz="1000" b="0">
                          <a:solidFill>
                            <a:srgbClr val="243447"/>
                          </a:solidFill>
                          <a:latin typeface="Aptos"/>
                        </a:defRPr>
                      </a:pPr>
                      <a:r>
                        <a:t>New Delhi</a:t>
                      </a:r>
                    </a:p>
                  </a:txBody>
                  <a:tcPr marL="45720" marR="45720" marT="27432" marB="27432" anchor="ctr">
                    <a:solidFill>
                      <a:srgbClr val="FFFFFF"/>
                    </a:solidFill>
                  </a:tcPr>
                </a:tc>
                <a:tc>
                  <a:txBody>
                    <a:bodyPr/>
                    <a:lstStyle/>
                    <a:p>
                      <a:pPr>
                        <a:defRPr sz="1000" b="0">
                          <a:solidFill>
                            <a:srgbClr val="243447"/>
                          </a:solidFill>
                          <a:latin typeface="Aptos"/>
                        </a:defRPr>
                      </a:pPr>
                      <a:r>
                        <a:t>$502,577</a:t>
                      </a:r>
                    </a:p>
                  </a:txBody>
                  <a:tcPr marL="45720" marR="45720" marT="27432" marB="27432" anchor="ctr">
                    <a:solidFill>
                      <a:srgbClr val="FFFFFF"/>
                    </a:solidFill>
                  </a:tcPr>
                </a:tc>
                <a:tc>
                  <a:txBody>
                    <a:bodyPr/>
                    <a:lstStyle/>
                    <a:p>
                      <a:pPr>
                        <a:defRPr sz="1000" b="0">
                          <a:solidFill>
                            <a:srgbClr val="243447"/>
                          </a:solidFill>
                          <a:latin typeface="Aptos"/>
                        </a:defRPr>
                      </a:pPr>
                      <a:r>
                        <a:t>$52,783</a:t>
                      </a:r>
                    </a:p>
                  </a:txBody>
                  <a:tcPr marL="45720" marR="45720" marT="27432" marB="27432" anchor="ctr">
                    <a:solidFill>
                      <a:srgbClr val="FFFFFF"/>
                    </a:solidFill>
                  </a:tcPr>
                </a:tc>
                <a:tc>
                  <a:txBody>
                    <a:bodyPr/>
                    <a:lstStyle/>
                    <a:p>
                      <a:pPr>
                        <a:defRPr sz="1000" b="0">
                          <a:solidFill>
                            <a:srgbClr val="243447"/>
                          </a:solidFill>
                          <a:latin typeface="Aptos"/>
                        </a:defRPr>
                      </a:pPr>
                      <a:r>
                        <a:t>2,189</a:t>
                      </a:r>
                    </a:p>
                  </a:txBody>
                  <a:tcPr marL="45720" marR="45720" marT="27432" marB="27432" anchor="ctr">
                    <a:solidFill>
                      <a:srgbClr val="FFFFFF"/>
                    </a:solidFill>
                  </a:tcPr>
                </a:tc>
                <a:extLst>
                  <a:ext uri="{0D108BD9-81ED-4DB2-BD59-A6C34878D82A}">
                    <a16:rowId xmlns:a16="http://schemas.microsoft.com/office/drawing/2014/main" val="10001"/>
                  </a:ext>
                </a:extLst>
              </a:tr>
              <a:tr h="548640">
                <a:tc>
                  <a:txBody>
                    <a:bodyPr/>
                    <a:lstStyle/>
                    <a:p>
                      <a:pPr>
                        <a:defRPr sz="1000" b="0">
                          <a:solidFill>
                            <a:srgbClr val="243447"/>
                          </a:solidFill>
                          <a:latin typeface="Aptos"/>
                        </a:defRPr>
                      </a:pPr>
                      <a:r>
                        <a:t>Bihar</a:t>
                      </a:r>
                    </a:p>
                  </a:txBody>
                  <a:tcPr marL="45720" marR="45720" marT="27432" marB="27432" anchor="ctr">
                    <a:solidFill>
                      <a:srgbClr val="FFFFFF"/>
                    </a:solidFill>
                  </a:tcPr>
                </a:tc>
                <a:tc>
                  <a:txBody>
                    <a:bodyPr/>
                    <a:lstStyle/>
                    <a:p>
                      <a:pPr>
                        <a:defRPr sz="1000" b="0">
                          <a:solidFill>
                            <a:srgbClr val="243447"/>
                          </a:solidFill>
                          <a:latin typeface="Aptos"/>
                        </a:defRPr>
                      </a:pPr>
                      <a:r>
                        <a:t>$457,688</a:t>
                      </a:r>
                    </a:p>
                  </a:txBody>
                  <a:tcPr marL="45720" marR="45720" marT="27432" marB="27432" anchor="ctr">
                    <a:solidFill>
                      <a:srgbClr val="FFFFFF"/>
                    </a:solidFill>
                  </a:tcPr>
                </a:tc>
                <a:tc>
                  <a:txBody>
                    <a:bodyPr/>
                    <a:lstStyle/>
                    <a:p>
                      <a:pPr>
                        <a:defRPr sz="1000" b="0">
                          <a:solidFill>
                            <a:srgbClr val="243447"/>
                          </a:solidFill>
                          <a:latin typeface="Aptos"/>
                        </a:defRPr>
                      </a:pPr>
                      <a:r>
                        <a:t>$76,382</a:t>
                      </a:r>
                    </a:p>
                  </a:txBody>
                  <a:tcPr marL="45720" marR="45720" marT="27432" marB="27432" anchor="ctr">
                    <a:solidFill>
                      <a:srgbClr val="FFFFFF"/>
                    </a:solidFill>
                  </a:tcPr>
                </a:tc>
                <a:tc>
                  <a:txBody>
                    <a:bodyPr/>
                    <a:lstStyle/>
                    <a:p>
                      <a:pPr>
                        <a:defRPr sz="1000" b="0">
                          <a:solidFill>
                            <a:srgbClr val="243447"/>
                          </a:solidFill>
                          <a:latin typeface="Aptos"/>
                        </a:defRPr>
                      </a:pPr>
                      <a:r>
                        <a:t>2,001</a:t>
                      </a:r>
                    </a:p>
                  </a:txBody>
                  <a:tcPr marL="45720" marR="45720" marT="27432" marB="27432" anchor="ctr">
                    <a:solidFill>
                      <a:srgbClr val="FFFFFF"/>
                    </a:solidFill>
                  </a:tcPr>
                </a:tc>
                <a:extLst>
                  <a:ext uri="{0D108BD9-81ED-4DB2-BD59-A6C34878D82A}">
                    <a16:rowId xmlns:a16="http://schemas.microsoft.com/office/drawing/2014/main" val="10002"/>
                  </a:ext>
                </a:extLst>
              </a:tr>
              <a:tr h="548640">
                <a:tc>
                  <a:txBody>
                    <a:bodyPr/>
                    <a:lstStyle/>
                    <a:p>
                      <a:pPr>
                        <a:defRPr sz="1000" b="0">
                          <a:solidFill>
                            <a:srgbClr val="243447"/>
                          </a:solidFill>
                          <a:latin typeface="Aptos"/>
                        </a:defRPr>
                      </a:pPr>
                      <a:r>
                        <a:t>Himachal Pradesh</a:t>
                      </a:r>
                    </a:p>
                  </a:txBody>
                  <a:tcPr marL="45720" marR="45720" marT="27432" marB="27432" anchor="ctr">
                    <a:solidFill>
                      <a:srgbClr val="FFFFFF"/>
                    </a:solidFill>
                  </a:tcPr>
                </a:tc>
                <a:tc>
                  <a:txBody>
                    <a:bodyPr/>
                    <a:lstStyle/>
                    <a:p>
                      <a:pPr>
                        <a:defRPr sz="1000" b="0">
                          <a:solidFill>
                            <a:srgbClr val="243447"/>
                          </a:solidFill>
                          <a:latin typeface="Aptos"/>
                        </a:defRPr>
                      </a:pPr>
                      <a:r>
                        <a:t>$205,986</a:t>
                      </a:r>
                    </a:p>
                  </a:txBody>
                  <a:tcPr marL="45720" marR="45720" marT="27432" marB="27432" anchor="ctr">
                    <a:solidFill>
                      <a:srgbClr val="FFFFFF"/>
                    </a:solidFill>
                  </a:tcPr>
                </a:tc>
                <a:tc>
                  <a:txBody>
                    <a:bodyPr/>
                    <a:lstStyle/>
                    <a:p>
                      <a:pPr>
                        <a:defRPr sz="1000" b="0">
                          <a:solidFill>
                            <a:srgbClr val="243447"/>
                          </a:solidFill>
                          <a:latin typeface="Aptos"/>
                        </a:defRPr>
                      </a:pPr>
                      <a:r>
                        <a:t>$-18,959</a:t>
                      </a:r>
                    </a:p>
                  </a:txBody>
                  <a:tcPr marL="45720" marR="45720" marT="27432" marB="27432" anchor="ctr">
                    <a:solidFill>
                      <a:srgbClr val="FFFFFF"/>
                    </a:solidFill>
                  </a:tcPr>
                </a:tc>
                <a:tc>
                  <a:txBody>
                    <a:bodyPr/>
                    <a:lstStyle/>
                    <a:p>
                      <a:pPr>
                        <a:defRPr sz="1000" b="0">
                          <a:solidFill>
                            <a:srgbClr val="243447"/>
                          </a:solidFill>
                          <a:latin typeface="Aptos"/>
                        </a:defRPr>
                      </a:pPr>
                      <a:r>
                        <a:t>970</a:t>
                      </a:r>
                    </a:p>
                  </a:txBody>
                  <a:tcPr marL="45720" marR="45720" marT="27432" marB="27432" anchor="ctr">
                    <a:solidFill>
                      <a:srgbClr val="FFFFFF"/>
                    </a:solidFill>
                  </a:tcPr>
                </a:tc>
                <a:extLst>
                  <a:ext uri="{0D108BD9-81ED-4DB2-BD59-A6C34878D82A}">
                    <a16:rowId xmlns:a16="http://schemas.microsoft.com/office/drawing/2014/main" val="10003"/>
                  </a:ext>
                </a:extLst>
              </a:tr>
              <a:tr h="548640">
                <a:tc>
                  <a:txBody>
                    <a:bodyPr/>
                    <a:lstStyle/>
                    <a:p>
                      <a:pPr>
                        <a:defRPr sz="1000" b="0">
                          <a:solidFill>
                            <a:srgbClr val="243447"/>
                          </a:solidFill>
                          <a:latin typeface="Aptos"/>
                        </a:defRPr>
                      </a:pPr>
                      <a:r>
                        <a:t>Odisha</a:t>
                      </a:r>
                    </a:p>
                  </a:txBody>
                  <a:tcPr marL="45720" marR="45720" marT="27432" marB="27432" anchor="ctr">
                    <a:solidFill>
                      <a:srgbClr val="FFFFFF"/>
                    </a:solidFill>
                  </a:tcPr>
                </a:tc>
                <a:tc>
                  <a:txBody>
                    <a:bodyPr/>
                    <a:lstStyle/>
                    <a:p>
                      <a:pPr>
                        <a:defRPr sz="1000" b="0">
                          <a:solidFill>
                            <a:srgbClr val="243447"/>
                          </a:solidFill>
                          <a:latin typeface="Aptos"/>
                        </a:defRPr>
                      </a:pPr>
                      <a:r>
                        <a:t>$162,347</a:t>
                      </a:r>
                    </a:p>
                  </a:txBody>
                  <a:tcPr marL="45720" marR="45720" marT="27432" marB="27432" anchor="ctr">
                    <a:solidFill>
                      <a:srgbClr val="FFFFFF"/>
                    </a:solidFill>
                  </a:tcPr>
                </a:tc>
                <a:tc>
                  <a:txBody>
                    <a:bodyPr/>
                    <a:lstStyle/>
                    <a:p>
                      <a:pPr>
                        <a:defRPr sz="1000" b="0">
                          <a:solidFill>
                            <a:srgbClr val="243447"/>
                          </a:solidFill>
                          <a:latin typeface="Aptos"/>
                        </a:defRPr>
                      </a:pPr>
                      <a:r>
                        <a:t>$40,434</a:t>
                      </a:r>
                    </a:p>
                  </a:txBody>
                  <a:tcPr marL="45720" marR="45720" marT="27432" marB="27432" anchor="ctr">
                    <a:solidFill>
                      <a:srgbClr val="FFFFFF"/>
                    </a:solidFill>
                  </a:tcPr>
                </a:tc>
                <a:tc>
                  <a:txBody>
                    <a:bodyPr/>
                    <a:lstStyle/>
                    <a:p>
                      <a:pPr>
                        <a:defRPr sz="1000" b="0">
                          <a:solidFill>
                            <a:srgbClr val="243447"/>
                          </a:solidFill>
                          <a:latin typeface="Aptos"/>
                        </a:defRPr>
                      </a:pPr>
                      <a:r>
                        <a:t>611</a:t>
                      </a:r>
                    </a:p>
                  </a:txBody>
                  <a:tcPr marL="45720" marR="45720" marT="27432" marB="27432" anchor="ctr">
                    <a:solidFill>
                      <a:srgbClr val="FFFFFF"/>
                    </a:solidFill>
                  </a:tcPr>
                </a:tc>
                <a:extLst>
                  <a:ext uri="{0D108BD9-81ED-4DB2-BD59-A6C34878D82A}">
                    <a16:rowId xmlns:a16="http://schemas.microsoft.com/office/drawing/2014/main" val="10004"/>
                  </a:ext>
                </a:extLst>
              </a:tr>
              <a:tr h="548640">
                <a:tc>
                  <a:txBody>
                    <a:bodyPr/>
                    <a:lstStyle/>
                    <a:p>
                      <a:pPr>
                        <a:defRPr sz="1000" b="0">
                          <a:solidFill>
                            <a:srgbClr val="243447"/>
                          </a:solidFill>
                          <a:latin typeface="Aptos"/>
                        </a:defRPr>
                      </a:pPr>
                      <a:r>
                        <a:t>Kerala</a:t>
                      </a:r>
                    </a:p>
                  </a:txBody>
                  <a:tcPr marL="45720" marR="45720" marT="27432" marB="27432" anchor="ctr">
                    <a:solidFill>
                      <a:srgbClr val="FFFFFF"/>
                    </a:solidFill>
                  </a:tcPr>
                </a:tc>
                <a:tc>
                  <a:txBody>
                    <a:bodyPr/>
                    <a:lstStyle/>
                    <a:p>
                      <a:pPr>
                        <a:defRPr sz="1000" b="0">
                          <a:solidFill>
                            <a:srgbClr val="243447"/>
                          </a:solidFill>
                          <a:latin typeface="Aptos"/>
                        </a:defRPr>
                      </a:pPr>
                      <a:r>
                        <a:t>$137,085</a:t>
                      </a:r>
                    </a:p>
                  </a:txBody>
                  <a:tcPr marL="45720" marR="45720" marT="27432" marB="27432" anchor="ctr">
                    <a:solidFill>
                      <a:srgbClr val="FFFFFF"/>
                    </a:solidFill>
                  </a:tcPr>
                </a:tc>
                <a:tc>
                  <a:txBody>
                    <a:bodyPr/>
                    <a:lstStyle/>
                    <a:p>
                      <a:pPr>
                        <a:defRPr sz="1000" b="0">
                          <a:solidFill>
                            <a:srgbClr val="243447"/>
                          </a:solidFill>
                          <a:latin typeface="Aptos"/>
                        </a:defRPr>
                      </a:pPr>
                      <a:r>
                        <a:t>$-19,704</a:t>
                      </a:r>
                    </a:p>
                  </a:txBody>
                  <a:tcPr marL="45720" marR="45720" marT="27432" marB="27432" anchor="ctr">
                    <a:solidFill>
                      <a:srgbClr val="FFFFFF"/>
                    </a:solidFill>
                  </a:tcPr>
                </a:tc>
                <a:tc>
                  <a:txBody>
                    <a:bodyPr/>
                    <a:lstStyle/>
                    <a:p>
                      <a:pPr>
                        <a:defRPr sz="1000" b="0">
                          <a:solidFill>
                            <a:srgbClr val="243447"/>
                          </a:solidFill>
                          <a:latin typeface="Aptos"/>
                        </a:defRPr>
                      </a:pPr>
                      <a:r>
                        <a:t>753</a:t>
                      </a:r>
                    </a:p>
                  </a:txBody>
                  <a:tcPr marL="45720" marR="45720" marT="27432" marB="27432" anchor="ctr">
                    <a:solidFill>
                      <a:srgbClr val="FFFFFF"/>
                    </a:solidFill>
                  </a:tcPr>
                </a:tc>
                <a:extLst>
                  <a:ext uri="{0D108BD9-81ED-4DB2-BD59-A6C34878D82A}">
                    <a16:rowId xmlns:a16="http://schemas.microsoft.com/office/drawing/2014/main" val="10005"/>
                  </a:ext>
                </a:extLst>
              </a:tr>
              <a:tr h="548640">
                <a:tc>
                  <a:txBody>
                    <a:bodyPr/>
                    <a:lstStyle/>
                    <a:p>
                      <a:pPr>
                        <a:defRPr sz="1000" b="0">
                          <a:solidFill>
                            <a:srgbClr val="243447"/>
                          </a:solidFill>
                          <a:latin typeface="Aptos"/>
                        </a:defRPr>
                      </a:pPr>
                      <a:r>
                        <a:t>Meghalaya</a:t>
                      </a:r>
                    </a:p>
                  </a:txBody>
                  <a:tcPr marL="45720" marR="45720" marT="27432" marB="27432" anchor="ctr">
                    <a:solidFill>
                      <a:srgbClr val="FFFFFF"/>
                    </a:solidFill>
                  </a:tcPr>
                </a:tc>
                <a:tc>
                  <a:txBody>
                    <a:bodyPr/>
                    <a:lstStyle/>
                    <a:p>
                      <a:pPr>
                        <a:defRPr sz="1000" b="0">
                          <a:solidFill>
                            <a:srgbClr val="243447"/>
                          </a:solidFill>
                          <a:latin typeface="Aptos"/>
                        </a:defRPr>
                      </a:pPr>
                      <a:r>
                        <a:t>$116,158</a:t>
                      </a:r>
                    </a:p>
                  </a:txBody>
                  <a:tcPr marL="45720" marR="45720" marT="27432" marB="27432" anchor="ctr">
                    <a:solidFill>
                      <a:srgbClr val="FFFFFF"/>
                    </a:solidFill>
                  </a:tcPr>
                </a:tc>
                <a:tc>
                  <a:txBody>
                    <a:bodyPr/>
                    <a:lstStyle/>
                    <a:p>
                      <a:pPr>
                        <a:defRPr sz="1000" b="0">
                          <a:solidFill>
                            <a:srgbClr val="243447"/>
                          </a:solidFill>
                          <a:latin typeface="Aptos"/>
                        </a:defRPr>
                      </a:pPr>
                      <a:r>
                        <a:t>$32,043</a:t>
                      </a:r>
                    </a:p>
                  </a:txBody>
                  <a:tcPr marL="45720" marR="45720" marT="27432" marB="27432" anchor="ctr">
                    <a:solidFill>
                      <a:srgbClr val="FFFFFF"/>
                    </a:solidFill>
                  </a:tcPr>
                </a:tc>
                <a:tc>
                  <a:txBody>
                    <a:bodyPr/>
                    <a:lstStyle/>
                    <a:p>
                      <a:pPr>
                        <a:defRPr sz="1000" b="0">
                          <a:solidFill>
                            <a:srgbClr val="243447"/>
                          </a:solidFill>
                          <a:latin typeface="Aptos"/>
                        </a:defRPr>
                      </a:pPr>
                      <a:r>
                        <a:t>374</a:t>
                      </a:r>
                    </a:p>
                  </a:txBody>
                  <a:tcPr marL="45720" marR="45720" marT="27432" marB="27432"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731520" y="5897880"/>
            <a:ext cx="10515600" cy="320040"/>
          </a:xfrm>
          <a:prstGeom prst="rect">
            <a:avLst/>
          </a:prstGeom>
          <a:noFill/>
        </p:spPr>
        <p:txBody>
          <a:bodyPr wrap="none" lIns="36576" tIns="36576" rIns="36576" bIns="36576" anchor="t">
            <a:spAutoFit/>
          </a:bodyPr>
          <a:lstStyle/>
          <a:p>
            <a:pPr algn="l"/>
            <a:r>
              <a:rPr sz="1000" b="1">
                <a:solidFill>
                  <a:srgbClr val="243447"/>
                </a:solidFill>
                <a:latin typeface="Aptos"/>
              </a:rPr>
              <a:t>New Delhi leads state sales at $502,577; Bihar leads state profit at $76,382.</a:t>
            </a:r>
          </a:p>
        </p:txBody>
      </p:sp>
      <p:sp>
        <p:nvSpPr>
          <p:cNvPr id="11" name="Rounded Rectangle 10"/>
          <p:cNvSpPr/>
          <p:nvPr/>
        </p:nvSpPr>
        <p:spPr>
          <a:xfrm>
            <a:off x="658368" y="5806440"/>
            <a:ext cx="10881360" cy="484632"/>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869" dirty="0">
                <a:solidFill>
                  <a:srgbClr val="243447"/>
                </a:solidFill>
                <a:latin typeface="Aptos"/>
              </a:rPr>
              <a:t>This analysis compares major states by sales, profit, and number of orders. New Delhi has the highest sales contribution, while Bihar has the highest profit among the states shown. Some states have negative profit, so sales volume alone should not be used to judge performance.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Category Performance</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Revenue and profit contribution by major product category.</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12</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extLst>
              <p:ext uri="{D42A27DB-BD31-4B8C-83A1-F6EECF244321}">
                <p14:modId xmlns:p14="http://schemas.microsoft.com/office/powerpoint/2010/main" val="2889980200"/>
              </p:ext>
            </p:extLst>
          </p:nvPr>
        </p:nvGraphicFramePr>
        <p:xfrm>
          <a:off x="640080" y="1417319"/>
          <a:ext cx="5669280" cy="472287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a:graphicFrameLocks noGrp="1"/>
          </p:cNvGraphicFramePr>
          <p:nvPr/>
        </p:nvGraphicFramePr>
        <p:xfrm>
          <a:off x="6629400" y="1508760"/>
          <a:ext cx="5212080" cy="31089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777240">
                <a:tc>
                  <a:txBody>
                    <a:bodyPr/>
                    <a:lstStyle/>
                    <a:p>
                      <a:pPr>
                        <a:defRPr sz="1000" b="1">
                          <a:solidFill>
                            <a:srgbClr val="FFFFFF"/>
                          </a:solidFill>
                          <a:latin typeface="Aptos"/>
                        </a:defRPr>
                      </a:pPr>
                      <a:r>
                        <a:t>Category</a:t>
                      </a:r>
                    </a:p>
                  </a:txBody>
                  <a:tcPr marL="45720" marR="45720" marT="27432" marB="27432" anchor="ctr">
                    <a:solidFill>
                      <a:srgbClr val="17365D"/>
                    </a:solidFill>
                  </a:tcPr>
                </a:tc>
                <a:tc>
                  <a:txBody>
                    <a:bodyPr/>
                    <a:lstStyle/>
                    <a:p>
                      <a:pPr>
                        <a:defRPr sz="1000" b="1">
                          <a:solidFill>
                            <a:srgbClr val="FFFFFF"/>
                          </a:solidFill>
                          <a:latin typeface="Aptos"/>
                        </a:defRPr>
                      </a:pPr>
                      <a:r>
                        <a:t>Sales</a:t>
                      </a:r>
                    </a:p>
                  </a:txBody>
                  <a:tcPr marL="45720" marR="45720" marT="27432" marB="27432" anchor="ctr">
                    <a:solidFill>
                      <a:srgbClr val="17365D"/>
                    </a:solidFill>
                  </a:tcPr>
                </a:tc>
                <a:tc>
                  <a:txBody>
                    <a:bodyPr/>
                    <a:lstStyle/>
                    <a:p>
                      <a:pPr>
                        <a:defRPr sz="1000" b="1">
                          <a:solidFill>
                            <a:srgbClr val="FFFFFF"/>
                          </a:solidFill>
                          <a:latin typeface="Aptos"/>
                        </a:defRPr>
                      </a:pPr>
                      <a:r>
                        <a:t>Profit</a:t>
                      </a:r>
                    </a:p>
                  </a:txBody>
                  <a:tcPr marL="45720" marR="45720" marT="27432" marB="27432" anchor="ctr">
                    <a:solidFill>
                      <a:srgbClr val="17365D"/>
                    </a:solidFill>
                  </a:tcPr>
                </a:tc>
                <a:tc>
                  <a:txBody>
                    <a:bodyPr/>
                    <a:lstStyle/>
                    <a:p>
                      <a:pPr>
                        <a:defRPr sz="1000" b="1">
                          <a:solidFill>
                            <a:srgbClr val="FFFFFF"/>
                          </a:solidFill>
                          <a:latin typeface="Aptos"/>
                        </a:defRPr>
                      </a:pPr>
                      <a:r>
                        <a:t>Margin</a:t>
                      </a:r>
                    </a:p>
                  </a:txBody>
                  <a:tcPr marL="45720" marR="45720" marT="27432" marB="27432" anchor="ctr">
                    <a:solidFill>
                      <a:srgbClr val="17365D"/>
                    </a:solidFill>
                  </a:tcPr>
                </a:tc>
                <a:extLst>
                  <a:ext uri="{0D108BD9-81ED-4DB2-BD59-A6C34878D82A}">
                    <a16:rowId xmlns:a16="http://schemas.microsoft.com/office/drawing/2014/main" val="10000"/>
                  </a:ext>
                </a:extLst>
              </a:tr>
              <a:tr h="777240">
                <a:tc>
                  <a:txBody>
                    <a:bodyPr/>
                    <a:lstStyle/>
                    <a:p>
                      <a:pPr>
                        <a:defRPr sz="1000" b="0">
                          <a:solidFill>
                            <a:srgbClr val="243447"/>
                          </a:solidFill>
                          <a:latin typeface="Aptos"/>
                        </a:defRPr>
                      </a:pPr>
                      <a:r>
                        <a:t>Technology</a:t>
                      </a:r>
                    </a:p>
                  </a:txBody>
                  <a:tcPr marL="45720" marR="45720" marT="27432" marB="27432" anchor="ctr">
                    <a:solidFill>
                      <a:srgbClr val="FFFFFF"/>
                    </a:solidFill>
                  </a:tcPr>
                </a:tc>
                <a:tc>
                  <a:txBody>
                    <a:bodyPr/>
                    <a:lstStyle/>
                    <a:p>
                      <a:pPr>
                        <a:defRPr sz="1000" b="0">
                          <a:solidFill>
                            <a:srgbClr val="243447"/>
                          </a:solidFill>
                          <a:latin typeface="Aptos"/>
                        </a:defRPr>
                      </a:pPr>
                      <a:r>
                        <a:t>$836,154</a:t>
                      </a:r>
                    </a:p>
                  </a:txBody>
                  <a:tcPr marL="45720" marR="45720" marT="27432" marB="27432" anchor="ctr">
                    <a:solidFill>
                      <a:srgbClr val="FFFFFF"/>
                    </a:solidFill>
                  </a:tcPr>
                </a:tc>
                <a:tc>
                  <a:txBody>
                    <a:bodyPr/>
                    <a:lstStyle/>
                    <a:p>
                      <a:pPr>
                        <a:defRPr sz="1000" b="0">
                          <a:solidFill>
                            <a:srgbClr val="243447"/>
                          </a:solidFill>
                          <a:latin typeface="Aptos"/>
                        </a:defRPr>
                      </a:pPr>
                      <a:r>
                        <a:t>$145,456</a:t>
                      </a:r>
                    </a:p>
                  </a:txBody>
                  <a:tcPr marL="45720" marR="45720" marT="27432" marB="27432" anchor="ctr">
                    <a:solidFill>
                      <a:srgbClr val="FFFFFF"/>
                    </a:solidFill>
                  </a:tcPr>
                </a:tc>
                <a:tc>
                  <a:txBody>
                    <a:bodyPr/>
                    <a:lstStyle/>
                    <a:p>
                      <a:pPr>
                        <a:defRPr sz="1000" b="0">
                          <a:solidFill>
                            <a:srgbClr val="243447"/>
                          </a:solidFill>
                          <a:latin typeface="Aptos"/>
                        </a:defRPr>
                      </a:pPr>
                      <a:r>
                        <a:t>17.4%</a:t>
                      </a:r>
                    </a:p>
                  </a:txBody>
                  <a:tcPr marL="45720" marR="45720" marT="27432" marB="27432" anchor="ctr">
                    <a:solidFill>
                      <a:srgbClr val="FFFFFF"/>
                    </a:solidFill>
                  </a:tcPr>
                </a:tc>
                <a:extLst>
                  <a:ext uri="{0D108BD9-81ED-4DB2-BD59-A6C34878D82A}">
                    <a16:rowId xmlns:a16="http://schemas.microsoft.com/office/drawing/2014/main" val="10001"/>
                  </a:ext>
                </a:extLst>
              </a:tr>
              <a:tr h="777240">
                <a:tc>
                  <a:txBody>
                    <a:bodyPr/>
                    <a:lstStyle/>
                    <a:p>
                      <a:pPr>
                        <a:defRPr sz="1000" b="0">
                          <a:solidFill>
                            <a:srgbClr val="243447"/>
                          </a:solidFill>
                          <a:latin typeface="Aptos"/>
                        </a:defRPr>
                      </a:pPr>
                      <a:r>
                        <a:t>Furniture</a:t>
                      </a:r>
                    </a:p>
                  </a:txBody>
                  <a:tcPr marL="45720" marR="45720" marT="27432" marB="27432" anchor="ctr">
                    <a:solidFill>
                      <a:srgbClr val="FFFFFF"/>
                    </a:solidFill>
                  </a:tcPr>
                </a:tc>
                <a:tc>
                  <a:txBody>
                    <a:bodyPr/>
                    <a:lstStyle/>
                    <a:p>
                      <a:pPr>
                        <a:defRPr sz="1000" b="0">
                          <a:solidFill>
                            <a:srgbClr val="243447"/>
                          </a:solidFill>
                          <a:latin typeface="Aptos"/>
                        </a:defRPr>
                      </a:pPr>
                      <a:r>
                        <a:t>$741,719</a:t>
                      </a:r>
                    </a:p>
                  </a:txBody>
                  <a:tcPr marL="45720" marR="45720" marT="27432" marB="27432" anchor="ctr">
                    <a:solidFill>
                      <a:srgbClr val="FFFFFF"/>
                    </a:solidFill>
                  </a:tcPr>
                </a:tc>
                <a:tc>
                  <a:txBody>
                    <a:bodyPr/>
                    <a:lstStyle/>
                    <a:p>
                      <a:pPr>
                        <a:defRPr sz="1000" b="0">
                          <a:solidFill>
                            <a:srgbClr val="243447"/>
                          </a:solidFill>
                          <a:latin typeface="Aptos"/>
                        </a:defRPr>
                      </a:pPr>
                      <a:r>
                        <a:t>$18,463</a:t>
                      </a:r>
                    </a:p>
                  </a:txBody>
                  <a:tcPr marL="45720" marR="45720" marT="27432" marB="27432" anchor="ctr">
                    <a:solidFill>
                      <a:srgbClr val="FFFFFF"/>
                    </a:solidFill>
                  </a:tcPr>
                </a:tc>
                <a:tc>
                  <a:txBody>
                    <a:bodyPr/>
                    <a:lstStyle/>
                    <a:p>
                      <a:pPr>
                        <a:defRPr sz="1000" b="0">
                          <a:solidFill>
                            <a:srgbClr val="243447"/>
                          </a:solidFill>
                          <a:latin typeface="Aptos"/>
                        </a:defRPr>
                      </a:pPr>
                      <a:r>
                        <a:t>2.5%</a:t>
                      </a:r>
                    </a:p>
                  </a:txBody>
                  <a:tcPr marL="45720" marR="45720" marT="27432" marB="27432" anchor="ctr">
                    <a:solidFill>
                      <a:srgbClr val="FFFFFF"/>
                    </a:solidFill>
                  </a:tcPr>
                </a:tc>
                <a:extLst>
                  <a:ext uri="{0D108BD9-81ED-4DB2-BD59-A6C34878D82A}">
                    <a16:rowId xmlns:a16="http://schemas.microsoft.com/office/drawing/2014/main" val="10002"/>
                  </a:ext>
                </a:extLst>
              </a:tr>
              <a:tr h="777240">
                <a:tc>
                  <a:txBody>
                    <a:bodyPr/>
                    <a:lstStyle/>
                    <a:p>
                      <a:pPr>
                        <a:defRPr sz="1000" b="0">
                          <a:solidFill>
                            <a:srgbClr val="243447"/>
                          </a:solidFill>
                          <a:latin typeface="Aptos"/>
                        </a:defRPr>
                      </a:pPr>
                      <a:r>
                        <a:t>Office Supplies</a:t>
                      </a:r>
                    </a:p>
                  </a:txBody>
                  <a:tcPr marL="45720" marR="45720" marT="27432" marB="27432" anchor="ctr">
                    <a:solidFill>
                      <a:srgbClr val="FFFFFF"/>
                    </a:solidFill>
                  </a:tcPr>
                </a:tc>
                <a:tc>
                  <a:txBody>
                    <a:bodyPr/>
                    <a:lstStyle/>
                    <a:p>
                      <a:pPr>
                        <a:defRPr sz="1000" b="0">
                          <a:solidFill>
                            <a:srgbClr val="243447"/>
                          </a:solidFill>
                          <a:latin typeface="Aptos"/>
                        </a:defRPr>
                      </a:pPr>
                      <a:r>
                        <a:t>$719,047</a:t>
                      </a:r>
                    </a:p>
                  </a:txBody>
                  <a:tcPr marL="45720" marR="45720" marT="27432" marB="27432" anchor="ctr">
                    <a:solidFill>
                      <a:srgbClr val="FFFFFF"/>
                    </a:solidFill>
                  </a:tcPr>
                </a:tc>
                <a:tc>
                  <a:txBody>
                    <a:bodyPr/>
                    <a:lstStyle/>
                    <a:p>
                      <a:pPr>
                        <a:defRPr sz="1000" b="0">
                          <a:solidFill>
                            <a:srgbClr val="243447"/>
                          </a:solidFill>
                          <a:latin typeface="Aptos"/>
                        </a:defRPr>
                      </a:pPr>
                      <a:r>
                        <a:t>$122,491</a:t>
                      </a:r>
                    </a:p>
                  </a:txBody>
                  <a:tcPr marL="45720" marR="45720" marT="27432" marB="27432" anchor="ctr">
                    <a:solidFill>
                      <a:srgbClr val="FFFFFF"/>
                    </a:solidFill>
                  </a:tcPr>
                </a:tc>
                <a:tc>
                  <a:txBody>
                    <a:bodyPr/>
                    <a:lstStyle/>
                    <a:p>
                      <a:pPr>
                        <a:defRPr sz="1000" b="0">
                          <a:solidFill>
                            <a:srgbClr val="243447"/>
                          </a:solidFill>
                          <a:latin typeface="Aptos"/>
                        </a:defRPr>
                      </a:pPr>
                      <a:r>
                        <a:t>17.0%</a:t>
                      </a:r>
                    </a:p>
                  </a:txBody>
                  <a:tcPr marL="45720" marR="45720"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6629400" y="4754409"/>
            <a:ext cx="4343400" cy="412421"/>
          </a:xfrm>
          <a:prstGeom prst="rect">
            <a:avLst/>
          </a:prstGeom>
          <a:noFill/>
        </p:spPr>
        <p:txBody>
          <a:bodyPr wrap="square" lIns="36576" tIns="36576" rIns="36576" bIns="36576" anchor="t">
            <a:spAutoFit/>
          </a:bodyPr>
          <a:lstStyle/>
          <a:p>
            <a:pPr algn="l"/>
            <a:r>
              <a:rPr sz="1100" b="1" dirty="0">
                <a:solidFill>
                  <a:srgbClr val="243447"/>
                </a:solidFill>
                <a:latin typeface="Aptos"/>
              </a:rPr>
              <a:t>Key point: Technology combines the largest sales base with the strongest category profitability.</a:t>
            </a:r>
          </a:p>
        </p:txBody>
      </p:sp>
      <p:sp>
        <p:nvSpPr>
          <p:cNvPr id="11" name="Rounded Rectangle 10"/>
          <p:cNvSpPr/>
          <p:nvPr/>
        </p:nvSpPr>
        <p:spPr>
          <a:xfrm>
            <a:off x="658368" y="6163056"/>
            <a:ext cx="10881360" cy="37490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Category analysis helps us understand which major product groups are driving the business. Technology has the highest sales and also the highest profit, with a margin of about 17.4%. Furniture has substantial sales but only a 2.5% margin, so its pricing, discounting, and product mix deserve further investigation.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Customer Analysis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Most profitable customers and the concentration of customer value.</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13</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nvGraphicFramePr>
        <p:xfrm>
          <a:off x="594360" y="1417320"/>
          <a:ext cx="5715000" cy="4343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a:graphicFrameLocks noGrp="1"/>
          </p:cNvGraphicFramePr>
          <p:nvPr/>
        </p:nvGraphicFramePr>
        <p:xfrm>
          <a:off x="6583680" y="1508760"/>
          <a:ext cx="5029200" cy="34747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579120">
                <a:tc>
                  <a:txBody>
                    <a:bodyPr/>
                    <a:lstStyle/>
                    <a:p>
                      <a:pPr>
                        <a:defRPr sz="1000" b="1">
                          <a:solidFill>
                            <a:srgbClr val="FFFFFF"/>
                          </a:solidFill>
                          <a:latin typeface="Aptos"/>
                        </a:defRPr>
                      </a:pPr>
                      <a:r>
                        <a:t>Customer</a:t>
                      </a:r>
                    </a:p>
                  </a:txBody>
                  <a:tcPr marL="45720" marR="45720" marT="27432" marB="27432" anchor="ctr">
                    <a:solidFill>
                      <a:srgbClr val="17365D"/>
                    </a:solidFill>
                  </a:tcPr>
                </a:tc>
                <a:tc>
                  <a:txBody>
                    <a:bodyPr/>
                    <a:lstStyle/>
                    <a:p>
                      <a:pPr>
                        <a:defRPr sz="1000" b="1">
                          <a:solidFill>
                            <a:srgbClr val="FFFFFF"/>
                          </a:solidFill>
                          <a:latin typeface="Aptos"/>
                        </a:defRPr>
                      </a:pPr>
                      <a:r>
                        <a:t>Sales</a:t>
                      </a:r>
                    </a:p>
                  </a:txBody>
                  <a:tcPr marL="45720" marR="45720" marT="27432" marB="27432" anchor="ctr">
                    <a:solidFill>
                      <a:srgbClr val="17365D"/>
                    </a:solidFill>
                  </a:tcPr>
                </a:tc>
                <a:tc>
                  <a:txBody>
                    <a:bodyPr/>
                    <a:lstStyle/>
                    <a:p>
                      <a:pPr>
                        <a:defRPr sz="1000" b="1">
                          <a:solidFill>
                            <a:srgbClr val="FFFFFF"/>
                          </a:solidFill>
                          <a:latin typeface="Aptos"/>
                        </a:defRPr>
                      </a:pPr>
                      <a:r>
                        <a:t>Profit</a:t>
                      </a:r>
                    </a:p>
                  </a:txBody>
                  <a:tcPr marL="45720" marR="45720" marT="27432" marB="27432" anchor="ctr">
                    <a:solidFill>
                      <a:srgbClr val="17365D"/>
                    </a:solidFill>
                  </a:tcPr>
                </a:tc>
                <a:tc>
                  <a:txBody>
                    <a:bodyPr/>
                    <a:lstStyle/>
                    <a:p>
                      <a:pPr>
                        <a:defRPr sz="1000" b="1">
                          <a:solidFill>
                            <a:srgbClr val="FFFFFF"/>
                          </a:solidFill>
                          <a:latin typeface="Aptos"/>
                        </a:defRPr>
                      </a:pPr>
                      <a:r>
                        <a:t>Orders</a:t>
                      </a:r>
                    </a:p>
                  </a:txBody>
                  <a:tcPr marL="45720" marR="45720" marT="27432" marB="27432" anchor="ctr">
                    <a:solidFill>
                      <a:srgbClr val="17365D"/>
                    </a:solidFill>
                  </a:tcPr>
                </a:tc>
                <a:extLst>
                  <a:ext uri="{0D108BD9-81ED-4DB2-BD59-A6C34878D82A}">
                    <a16:rowId xmlns:a16="http://schemas.microsoft.com/office/drawing/2014/main" val="10000"/>
                  </a:ext>
                </a:extLst>
              </a:tr>
              <a:tr h="579120">
                <a:tc>
                  <a:txBody>
                    <a:bodyPr/>
                    <a:lstStyle/>
                    <a:p>
                      <a:pPr>
                        <a:defRPr sz="1000" b="0">
                          <a:solidFill>
                            <a:srgbClr val="243447"/>
                          </a:solidFill>
                          <a:latin typeface="Aptos"/>
                        </a:defRPr>
                      </a:pPr>
                      <a:r>
                        <a:t>Tamara Chand</a:t>
                      </a:r>
                    </a:p>
                  </a:txBody>
                  <a:tcPr marL="45720" marR="45720" marT="27432" marB="27432" anchor="ctr">
                    <a:solidFill>
                      <a:srgbClr val="FFFFFF"/>
                    </a:solidFill>
                  </a:tcPr>
                </a:tc>
                <a:tc>
                  <a:txBody>
                    <a:bodyPr/>
                    <a:lstStyle/>
                    <a:p>
                      <a:pPr>
                        <a:defRPr sz="1000" b="0">
                          <a:solidFill>
                            <a:srgbClr val="243447"/>
                          </a:solidFill>
                          <a:latin typeface="Aptos"/>
                        </a:defRPr>
                      </a:pPr>
                      <a:r>
                        <a:t>$19,052</a:t>
                      </a:r>
                    </a:p>
                  </a:txBody>
                  <a:tcPr marL="45720" marR="45720" marT="27432" marB="27432" anchor="ctr">
                    <a:solidFill>
                      <a:srgbClr val="FFFFFF"/>
                    </a:solidFill>
                  </a:tcPr>
                </a:tc>
                <a:tc>
                  <a:txBody>
                    <a:bodyPr/>
                    <a:lstStyle/>
                    <a:p>
                      <a:pPr>
                        <a:defRPr sz="1000" b="0">
                          <a:solidFill>
                            <a:srgbClr val="243447"/>
                          </a:solidFill>
                          <a:latin typeface="Aptos"/>
                        </a:defRPr>
                      </a:pPr>
                      <a:r>
                        <a:t>$8,981</a:t>
                      </a:r>
                    </a:p>
                  </a:txBody>
                  <a:tcPr marL="45720" marR="45720" marT="27432" marB="27432" anchor="ctr">
                    <a:solidFill>
                      <a:srgbClr val="FFFFFF"/>
                    </a:solidFill>
                  </a:tcPr>
                </a:tc>
                <a:tc>
                  <a:txBody>
                    <a:bodyPr/>
                    <a:lstStyle/>
                    <a:p>
                      <a:pPr>
                        <a:defRPr sz="1000" b="0">
                          <a:solidFill>
                            <a:srgbClr val="243447"/>
                          </a:solidFill>
                          <a:latin typeface="Aptos"/>
                        </a:defRPr>
                      </a:pPr>
                      <a:r>
                        <a:t>12</a:t>
                      </a:r>
                    </a:p>
                  </a:txBody>
                  <a:tcPr marL="45720" marR="45720" marT="27432" marB="27432" anchor="ctr">
                    <a:solidFill>
                      <a:srgbClr val="FFFFFF"/>
                    </a:solidFill>
                  </a:tcPr>
                </a:tc>
                <a:extLst>
                  <a:ext uri="{0D108BD9-81ED-4DB2-BD59-A6C34878D82A}">
                    <a16:rowId xmlns:a16="http://schemas.microsoft.com/office/drawing/2014/main" val="10001"/>
                  </a:ext>
                </a:extLst>
              </a:tr>
              <a:tr h="579120">
                <a:tc>
                  <a:txBody>
                    <a:bodyPr/>
                    <a:lstStyle/>
                    <a:p>
                      <a:pPr>
                        <a:defRPr sz="1000" b="0">
                          <a:solidFill>
                            <a:srgbClr val="243447"/>
                          </a:solidFill>
                          <a:latin typeface="Aptos"/>
                        </a:defRPr>
                      </a:pPr>
                      <a:r>
                        <a:t>Raymond Buch</a:t>
                      </a:r>
                    </a:p>
                  </a:txBody>
                  <a:tcPr marL="45720" marR="45720" marT="27432" marB="27432" anchor="ctr">
                    <a:solidFill>
                      <a:srgbClr val="FFFFFF"/>
                    </a:solidFill>
                  </a:tcPr>
                </a:tc>
                <a:tc>
                  <a:txBody>
                    <a:bodyPr/>
                    <a:lstStyle/>
                    <a:p>
                      <a:pPr>
                        <a:defRPr sz="1000" b="0">
                          <a:solidFill>
                            <a:srgbClr val="243447"/>
                          </a:solidFill>
                          <a:latin typeface="Aptos"/>
                        </a:defRPr>
                      </a:pPr>
                      <a:r>
                        <a:t>$15,117</a:t>
                      </a:r>
                    </a:p>
                  </a:txBody>
                  <a:tcPr marL="45720" marR="45720" marT="27432" marB="27432" anchor="ctr">
                    <a:solidFill>
                      <a:srgbClr val="FFFFFF"/>
                    </a:solidFill>
                  </a:tcPr>
                </a:tc>
                <a:tc>
                  <a:txBody>
                    <a:bodyPr/>
                    <a:lstStyle/>
                    <a:p>
                      <a:pPr>
                        <a:defRPr sz="1000" b="0">
                          <a:solidFill>
                            <a:srgbClr val="243447"/>
                          </a:solidFill>
                          <a:latin typeface="Aptos"/>
                        </a:defRPr>
                      </a:pPr>
                      <a:r>
                        <a:t>$6,976</a:t>
                      </a:r>
                    </a:p>
                  </a:txBody>
                  <a:tcPr marL="45720" marR="45720" marT="27432" marB="27432" anchor="ctr">
                    <a:solidFill>
                      <a:srgbClr val="FFFFFF"/>
                    </a:solidFill>
                  </a:tcPr>
                </a:tc>
                <a:tc>
                  <a:txBody>
                    <a:bodyPr/>
                    <a:lstStyle/>
                    <a:p>
                      <a:pPr>
                        <a:defRPr sz="1000" b="0">
                          <a:solidFill>
                            <a:srgbClr val="243447"/>
                          </a:solidFill>
                          <a:latin typeface="Aptos"/>
                        </a:defRPr>
                      </a:pPr>
                      <a:r>
                        <a:t>18</a:t>
                      </a:r>
                    </a:p>
                  </a:txBody>
                  <a:tcPr marL="45720" marR="45720" marT="27432" marB="27432" anchor="ctr">
                    <a:solidFill>
                      <a:srgbClr val="FFFFFF"/>
                    </a:solidFill>
                  </a:tcPr>
                </a:tc>
                <a:extLst>
                  <a:ext uri="{0D108BD9-81ED-4DB2-BD59-A6C34878D82A}">
                    <a16:rowId xmlns:a16="http://schemas.microsoft.com/office/drawing/2014/main" val="10002"/>
                  </a:ext>
                </a:extLst>
              </a:tr>
              <a:tr h="579120">
                <a:tc>
                  <a:txBody>
                    <a:bodyPr/>
                    <a:lstStyle/>
                    <a:p>
                      <a:pPr>
                        <a:defRPr sz="1000" b="0">
                          <a:solidFill>
                            <a:srgbClr val="243447"/>
                          </a:solidFill>
                          <a:latin typeface="Aptos"/>
                        </a:defRPr>
                      </a:pPr>
                      <a:r>
                        <a:t>Sanjit Chand</a:t>
                      </a:r>
                    </a:p>
                  </a:txBody>
                  <a:tcPr marL="45720" marR="45720" marT="27432" marB="27432" anchor="ctr">
                    <a:solidFill>
                      <a:srgbClr val="FFFFFF"/>
                    </a:solidFill>
                  </a:tcPr>
                </a:tc>
                <a:tc>
                  <a:txBody>
                    <a:bodyPr/>
                    <a:lstStyle/>
                    <a:p>
                      <a:pPr>
                        <a:defRPr sz="1000" b="0">
                          <a:solidFill>
                            <a:srgbClr val="243447"/>
                          </a:solidFill>
                          <a:latin typeface="Aptos"/>
                        </a:defRPr>
                      </a:pPr>
                      <a:r>
                        <a:t>$14,142</a:t>
                      </a:r>
                    </a:p>
                  </a:txBody>
                  <a:tcPr marL="45720" marR="45720" marT="27432" marB="27432" anchor="ctr">
                    <a:solidFill>
                      <a:srgbClr val="FFFFFF"/>
                    </a:solidFill>
                  </a:tcPr>
                </a:tc>
                <a:tc>
                  <a:txBody>
                    <a:bodyPr/>
                    <a:lstStyle/>
                    <a:p>
                      <a:pPr>
                        <a:defRPr sz="1000" b="0">
                          <a:solidFill>
                            <a:srgbClr val="243447"/>
                          </a:solidFill>
                          <a:latin typeface="Aptos"/>
                        </a:defRPr>
                      </a:pPr>
                      <a:r>
                        <a:t>$5,757</a:t>
                      </a:r>
                    </a:p>
                  </a:txBody>
                  <a:tcPr marL="45720" marR="45720" marT="27432" marB="27432" anchor="ctr">
                    <a:solidFill>
                      <a:srgbClr val="FFFFFF"/>
                    </a:solidFill>
                  </a:tcPr>
                </a:tc>
                <a:tc>
                  <a:txBody>
                    <a:bodyPr/>
                    <a:lstStyle/>
                    <a:p>
                      <a:pPr>
                        <a:defRPr sz="1000" b="0">
                          <a:solidFill>
                            <a:srgbClr val="243447"/>
                          </a:solidFill>
                          <a:latin typeface="Aptos"/>
                        </a:defRPr>
                      </a:pPr>
                      <a:r>
                        <a:t>22</a:t>
                      </a:r>
                    </a:p>
                  </a:txBody>
                  <a:tcPr marL="45720" marR="45720" marT="27432" marB="27432" anchor="ctr">
                    <a:solidFill>
                      <a:srgbClr val="FFFFFF"/>
                    </a:solidFill>
                  </a:tcPr>
                </a:tc>
                <a:extLst>
                  <a:ext uri="{0D108BD9-81ED-4DB2-BD59-A6C34878D82A}">
                    <a16:rowId xmlns:a16="http://schemas.microsoft.com/office/drawing/2014/main" val="10003"/>
                  </a:ext>
                </a:extLst>
              </a:tr>
              <a:tr h="579120">
                <a:tc>
                  <a:txBody>
                    <a:bodyPr/>
                    <a:lstStyle/>
                    <a:p>
                      <a:pPr>
                        <a:defRPr sz="1000" b="0">
                          <a:solidFill>
                            <a:srgbClr val="243447"/>
                          </a:solidFill>
                          <a:latin typeface="Aptos"/>
                        </a:defRPr>
                      </a:pPr>
                      <a:r>
                        <a:t>Hunter Lopez</a:t>
                      </a:r>
                    </a:p>
                  </a:txBody>
                  <a:tcPr marL="45720" marR="45720" marT="27432" marB="27432" anchor="ctr">
                    <a:solidFill>
                      <a:srgbClr val="FFFFFF"/>
                    </a:solidFill>
                  </a:tcPr>
                </a:tc>
                <a:tc>
                  <a:txBody>
                    <a:bodyPr/>
                    <a:lstStyle/>
                    <a:p>
                      <a:pPr>
                        <a:defRPr sz="1000" b="0">
                          <a:solidFill>
                            <a:srgbClr val="243447"/>
                          </a:solidFill>
                          <a:latin typeface="Aptos"/>
                        </a:defRPr>
                      </a:pPr>
                      <a:r>
                        <a:t>$12,873</a:t>
                      </a:r>
                    </a:p>
                  </a:txBody>
                  <a:tcPr marL="45720" marR="45720" marT="27432" marB="27432" anchor="ctr">
                    <a:solidFill>
                      <a:srgbClr val="FFFFFF"/>
                    </a:solidFill>
                  </a:tcPr>
                </a:tc>
                <a:tc>
                  <a:txBody>
                    <a:bodyPr/>
                    <a:lstStyle/>
                    <a:p>
                      <a:pPr>
                        <a:defRPr sz="1000" b="0">
                          <a:solidFill>
                            <a:srgbClr val="243447"/>
                          </a:solidFill>
                          <a:latin typeface="Aptos"/>
                        </a:defRPr>
                      </a:pPr>
                      <a:r>
                        <a:t>$5,622</a:t>
                      </a:r>
                    </a:p>
                  </a:txBody>
                  <a:tcPr marL="45720" marR="45720" marT="27432" marB="27432" anchor="ctr">
                    <a:solidFill>
                      <a:srgbClr val="FFFFFF"/>
                    </a:solidFill>
                  </a:tcPr>
                </a:tc>
                <a:tc>
                  <a:txBody>
                    <a:bodyPr/>
                    <a:lstStyle/>
                    <a:p>
                      <a:pPr>
                        <a:defRPr sz="1000" b="0">
                          <a:solidFill>
                            <a:srgbClr val="243447"/>
                          </a:solidFill>
                          <a:latin typeface="Aptos"/>
                        </a:defRPr>
                      </a:pPr>
                      <a:r>
                        <a:t>11</a:t>
                      </a:r>
                    </a:p>
                  </a:txBody>
                  <a:tcPr marL="45720" marR="45720" marT="27432" marB="27432" anchor="ctr">
                    <a:solidFill>
                      <a:srgbClr val="FFFFFF"/>
                    </a:solidFill>
                  </a:tcPr>
                </a:tc>
                <a:extLst>
                  <a:ext uri="{0D108BD9-81ED-4DB2-BD59-A6C34878D82A}">
                    <a16:rowId xmlns:a16="http://schemas.microsoft.com/office/drawing/2014/main" val="10004"/>
                  </a:ext>
                </a:extLst>
              </a:tr>
              <a:tr h="579120">
                <a:tc>
                  <a:txBody>
                    <a:bodyPr/>
                    <a:lstStyle/>
                    <a:p>
                      <a:pPr>
                        <a:defRPr sz="1000" b="0">
                          <a:solidFill>
                            <a:srgbClr val="243447"/>
                          </a:solidFill>
                          <a:latin typeface="Aptos"/>
                        </a:defRPr>
                      </a:pPr>
                      <a:r>
                        <a:t>Adrian Barton</a:t>
                      </a:r>
                    </a:p>
                  </a:txBody>
                  <a:tcPr marL="45720" marR="45720" marT="27432" marB="27432" anchor="ctr">
                    <a:solidFill>
                      <a:srgbClr val="FFFFFF"/>
                    </a:solidFill>
                  </a:tcPr>
                </a:tc>
                <a:tc>
                  <a:txBody>
                    <a:bodyPr/>
                    <a:lstStyle/>
                    <a:p>
                      <a:pPr>
                        <a:defRPr sz="1000" b="0">
                          <a:solidFill>
                            <a:srgbClr val="243447"/>
                          </a:solidFill>
                          <a:latin typeface="Aptos"/>
                        </a:defRPr>
                      </a:pPr>
                      <a:r>
                        <a:t>$14,474</a:t>
                      </a:r>
                    </a:p>
                  </a:txBody>
                  <a:tcPr marL="45720" marR="45720" marT="27432" marB="27432" anchor="ctr">
                    <a:solidFill>
                      <a:srgbClr val="FFFFFF"/>
                    </a:solidFill>
                  </a:tcPr>
                </a:tc>
                <a:tc>
                  <a:txBody>
                    <a:bodyPr/>
                    <a:lstStyle/>
                    <a:p>
                      <a:pPr>
                        <a:defRPr sz="1000" b="0">
                          <a:solidFill>
                            <a:srgbClr val="243447"/>
                          </a:solidFill>
                          <a:latin typeface="Aptos"/>
                        </a:defRPr>
                      </a:pPr>
                      <a:r>
                        <a:t>$5,445</a:t>
                      </a:r>
                    </a:p>
                  </a:txBody>
                  <a:tcPr marL="45720" marR="45720" marT="27432" marB="27432" anchor="ctr">
                    <a:solidFill>
                      <a:srgbClr val="FFFFFF"/>
                    </a:solidFill>
                  </a:tcPr>
                </a:tc>
                <a:tc>
                  <a:txBody>
                    <a:bodyPr/>
                    <a:lstStyle/>
                    <a:p>
                      <a:pPr>
                        <a:defRPr sz="1000" b="0">
                          <a:solidFill>
                            <a:srgbClr val="243447"/>
                          </a:solidFill>
                          <a:latin typeface="Aptos"/>
                        </a:defRPr>
                      </a:pPr>
                      <a:r>
                        <a:t>20</a:t>
                      </a:r>
                    </a:p>
                  </a:txBody>
                  <a:tcPr marL="45720" marR="45720"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6629400" y="5257800"/>
            <a:ext cx="4983480" cy="381643"/>
          </a:xfrm>
          <a:prstGeom prst="rect">
            <a:avLst/>
          </a:prstGeom>
          <a:noFill/>
        </p:spPr>
        <p:txBody>
          <a:bodyPr wrap="square" lIns="36576" tIns="36576" rIns="36576" bIns="36576" anchor="t">
            <a:spAutoFit/>
          </a:bodyPr>
          <a:lstStyle/>
          <a:p>
            <a:pPr algn="l"/>
            <a:r>
              <a:rPr sz="1000" b="1" dirty="0">
                <a:solidFill>
                  <a:srgbClr val="243447"/>
                </a:solidFill>
                <a:latin typeface="Aptos"/>
              </a:rPr>
              <a:t>Use high-value customer patterns to support retention, cross-sell and repeat-purchase initiatives.</a:t>
            </a:r>
          </a:p>
        </p:txBody>
      </p:sp>
      <p:sp>
        <p:nvSpPr>
          <p:cNvPr id="11" name="Rounded Rectangle 10"/>
          <p:cNvSpPr/>
          <p:nvPr/>
        </p:nvSpPr>
        <p:spPr>
          <a:xfrm>
            <a:off x="658368" y="5788152"/>
            <a:ext cx="10881360" cy="502920"/>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869" b="1" dirty="0">
                <a:solidFill>
                  <a:srgbClr val="243447"/>
                </a:solidFill>
                <a:latin typeface="Aptos"/>
              </a:rPr>
              <a:t>This slide identifies customers contributing the most profit. Tamara Chand is the highest-profit customer in the displayed group, followed by Raymond Buch and Sanjit Chand. These customers can be important for retention and cross-selling because high-value customers have a larger contribution to profitability</a:t>
            </a:r>
            <a:r>
              <a:rPr sz="869" dirty="0">
                <a:solidFill>
                  <a:srgbClr val="243447"/>
                </a:solidFill>
                <a:latin typeface="Aptos"/>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Sub-Category Analysis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The strongest product sub-categories by sales.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14</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Chart 7"/>
          <p:cNvGraphicFramePr>
            <a:graphicFrameLocks noGrp="1"/>
          </p:cNvGraphicFramePr>
          <p:nvPr/>
        </p:nvGraphicFramePr>
        <p:xfrm>
          <a:off x="594360" y="1417320"/>
          <a:ext cx="5852160" cy="43891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Table 8"/>
          <p:cNvGraphicFramePr>
            <a:graphicFrameLocks noGrp="1"/>
          </p:cNvGraphicFramePr>
          <p:nvPr/>
        </p:nvGraphicFramePr>
        <p:xfrm>
          <a:off x="6720840" y="1508760"/>
          <a:ext cx="4389120" cy="37947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421640">
                <a:tc>
                  <a:txBody>
                    <a:bodyPr/>
                    <a:lstStyle/>
                    <a:p>
                      <a:pPr>
                        <a:defRPr sz="1000" b="1">
                          <a:solidFill>
                            <a:srgbClr val="FFFFFF"/>
                          </a:solidFill>
                          <a:latin typeface="Aptos"/>
                        </a:defRPr>
                      </a:pPr>
                      <a:r>
                        <a:t>Sub-Category</a:t>
                      </a:r>
                    </a:p>
                  </a:txBody>
                  <a:tcPr marL="45720" marR="45720" marT="27432" marB="27432" anchor="ctr">
                    <a:solidFill>
                      <a:srgbClr val="17365D"/>
                    </a:solidFill>
                  </a:tcPr>
                </a:tc>
                <a:tc>
                  <a:txBody>
                    <a:bodyPr/>
                    <a:lstStyle/>
                    <a:p>
                      <a:pPr>
                        <a:defRPr sz="1000" b="1">
                          <a:solidFill>
                            <a:srgbClr val="FFFFFF"/>
                          </a:solidFill>
                          <a:latin typeface="Aptos"/>
                        </a:defRPr>
                      </a:pPr>
                      <a:r>
                        <a:t>Sales</a:t>
                      </a:r>
                    </a:p>
                  </a:txBody>
                  <a:tcPr marL="45720" marR="45720" marT="27432" marB="27432" anchor="ctr">
                    <a:solidFill>
                      <a:srgbClr val="17365D"/>
                    </a:solidFill>
                  </a:tcPr>
                </a:tc>
                <a:tc>
                  <a:txBody>
                    <a:bodyPr/>
                    <a:lstStyle/>
                    <a:p>
                      <a:pPr>
                        <a:defRPr sz="1000" b="1">
                          <a:solidFill>
                            <a:srgbClr val="FFFFFF"/>
                          </a:solidFill>
                          <a:latin typeface="Aptos"/>
                        </a:defRPr>
                      </a:pPr>
                      <a:r>
                        <a:t>Profit</a:t>
                      </a:r>
                    </a:p>
                  </a:txBody>
                  <a:tcPr marL="45720" marR="45720" marT="27432" marB="27432" anchor="ctr">
                    <a:solidFill>
                      <a:srgbClr val="17365D"/>
                    </a:solidFill>
                  </a:tcPr>
                </a:tc>
                <a:extLst>
                  <a:ext uri="{0D108BD9-81ED-4DB2-BD59-A6C34878D82A}">
                    <a16:rowId xmlns:a16="http://schemas.microsoft.com/office/drawing/2014/main" val="10000"/>
                  </a:ext>
                </a:extLst>
              </a:tr>
              <a:tr h="421640">
                <a:tc>
                  <a:txBody>
                    <a:bodyPr/>
                    <a:lstStyle/>
                    <a:p>
                      <a:pPr>
                        <a:defRPr sz="1000" b="0">
                          <a:solidFill>
                            <a:srgbClr val="243447"/>
                          </a:solidFill>
                          <a:latin typeface="Aptos"/>
                        </a:defRPr>
                      </a:pPr>
                      <a:r>
                        <a:t>Phones</a:t>
                      </a:r>
                    </a:p>
                  </a:txBody>
                  <a:tcPr marL="45720" marR="45720" marT="27432" marB="27432" anchor="ctr">
                    <a:solidFill>
                      <a:srgbClr val="FFFFFF"/>
                    </a:solidFill>
                  </a:tcPr>
                </a:tc>
                <a:tc>
                  <a:txBody>
                    <a:bodyPr/>
                    <a:lstStyle/>
                    <a:p>
                      <a:pPr>
                        <a:defRPr sz="1000" b="0">
                          <a:solidFill>
                            <a:srgbClr val="243447"/>
                          </a:solidFill>
                          <a:latin typeface="Aptos"/>
                        </a:defRPr>
                      </a:pPr>
                      <a:r>
                        <a:t>$330,007</a:t>
                      </a:r>
                    </a:p>
                  </a:txBody>
                  <a:tcPr marL="45720" marR="45720" marT="27432" marB="27432" anchor="ctr">
                    <a:solidFill>
                      <a:srgbClr val="FFFFFF"/>
                    </a:solidFill>
                  </a:tcPr>
                </a:tc>
                <a:tc>
                  <a:txBody>
                    <a:bodyPr/>
                    <a:lstStyle/>
                    <a:p>
                      <a:pPr>
                        <a:defRPr sz="1000" b="0">
                          <a:solidFill>
                            <a:srgbClr val="243447"/>
                          </a:solidFill>
                          <a:latin typeface="Aptos"/>
                        </a:defRPr>
                      </a:pPr>
                      <a:r>
                        <a:t>$44,516</a:t>
                      </a:r>
                    </a:p>
                  </a:txBody>
                  <a:tcPr marL="45720" marR="45720" marT="27432" marB="27432" anchor="ctr">
                    <a:solidFill>
                      <a:srgbClr val="FFFFFF"/>
                    </a:solidFill>
                  </a:tcPr>
                </a:tc>
                <a:extLst>
                  <a:ext uri="{0D108BD9-81ED-4DB2-BD59-A6C34878D82A}">
                    <a16:rowId xmlns:a16="http://schemas.microsoft.com/office/drawing/2014/main" val="10001"/>
                  </a:ext>
                </a:extLst>
              </a:tr>
              <a:tr h="421640">
                <a:tc>
                  <a:txBody>
                    <a:bodyPr/>
                    <a:lstStyle/>
                    <a:p>
                      <a:pPr>
                        <a:defRPr sz="1000" b="0">
                          <a:solidFill>
                            <a:srgbClr val="243447"/>
                          </a:solidFill>
                          <a:latin typeface="Aptos"/>
                        </a:defRPr>
                      </a:pPr>
                      <a:r>
                        <a:t>Chairs</a:t>
                      </a:r>
                    </a:p>
                  </a:txBody>
                  <a:tcPr marL="45720" marR="45720" marT="27432" marB="27432" anchor="ctr">
                    <a:solidFill>
                      <a:srgbClr val="FFFFFF"/>
                    </a:solidFill>
                  </a:tcPr>
                </a:tc>
                <a:tc>
                  <a:txBody>
                    <a:bodyPr/>
                    <a:lstStyle/>
                    <a:p>
                      <a:pPr>
                        <a:defRPr sz="1000" b="0">
                          <a:solidFill>
                            <a:srgbClr val="243447"/>
                          </a:solidFill>
                          <a:latin typeface="Aptos"/>
                        </a:defRPr>
                      </a:pPr>
                      <a:r>
                        <a:t>$328,168</a:t>
                      </a:r>
                    </a:p>
                  </a:txBody>
                  <a:tcPr marL="45720" marR="45720" marT="27432" marB="27432" anchor="ctr">
                    <a:solidFill>
                      <a:srgbClr val="FFFFFF"/>
                    </a:solidFill>
                  </a:tcPr>
                </a:tc>
                <a:tc>
                  <a:txBody>
                    <a:bodyPr/>
                    <a:lstStyle/>
                    <a:p>
                      <a:pPr>
                        <a:defRPr sz="1000" b="0">
                          <a:solidFill>
                            <a:srgbClr val="243447"/>
                          </a:solidFill>
                          <a:latin typeface="Aptos"/>
                        </a:defRPr>
                      </a:pPr>
                      <a:r>
                        <a:t>$26,602</a:t>
                      </a:r>
                    </a:p>
                  </a:txBody>
                  <a:tcPr marL="45720" marR="45720" marT="27432" marB="27432" anchor="ctr">
                    <a:solidFill>
                      <a:srgbClr val="FFFFFF"/>
                    </a:solidFill>
                  </a:tcPr>
                </a:tc>
                <a:extLst>
                  <a:ext uri="{0D108BD9-81ED-4DB2-BD59-A6C34878D82A}">
                    <a16:rowId xmlns:a16="http://schemas.microsoft.com/office/drawing/2014/main" val="10002"/>
                  </a:ext>
                </a:extLst>
              </a:tr>
              <a:tr h="421640">
                <a:tc>
                  <a:txBody>
                    <a:bodyPr/>
                    <a:lstStyle/>
                    <a:p>
                      <a:pPr>
                        <a:defRPr sz="1000" b="0">
                          <a:solidFill>
                            <a:srgbClr val="243447"/>
                          </a:solidFill>
                          <a:latin typeface="Aptos"/>
                        </a:defRPr>
                      </a:pPr>
                      <a:r>
                        <a:t>Storage</a:t>
                      </a:r>
                    </a:p>
                  </a:txBody>
                  <a:tcPr marL="45720" marR="45720" marT="27432" marB="27432" anchor="ctr">
                    <a:solidFill>
                      <a:srgbClr val="FFFFFF"/>
                    </a:solidFill>
                  </a:tcPr>
                </a:tc>
                <a:tc>
                  <a:txBody>
                    <a:bodyPr/>
                    <a:lstStyle/>
                    <a:p>
                      <a:pPr>
                        <a:defRPr sz="1000" b="0">
                          <a:solidFill>
                            <a:srgbClr val="243447"/>
                          </a:solidFill>
                          <a:latin typeface="Aptos"/>
                        </a:defRPr>
                      </a:pPr>
                      <a:r>
                        <a:t>$223,844</a:t>
                      </a:r>
                    </a:p>
                  </a:txBody>
                  <a:tcPr marL="45720" marR="45720" marT="27432" marB="27432" anchor="ctr">
                    <a:solidFill>
                      <a:srgbClr val="FFFFFF"/>
                    </a:solidFill>
                  </a:tcPr>
                </a:tc>
                <a:tc>
                  <a:txBody>
                    <a:bodyPr/>
                    <a:lstStyle/>
                    <a:p>
                      <a:pPr>
                        <a:defRPr sz="1000" b="0">
                          <a:solidFill>
                            <a:srgbClr val="243447"/>
                          </a:solidFill>
                          <a:latin typeface="Aptos"/>
                        </a:defRPr>
                      </a:pPr>
                      <a:r>
                        <a:t>$21,279</a:t>
                      </a:r>
                    </a:p>
                  </a:txBody>
                  <a:tcPr marL="45720" marR="45720" marT="27432" marB="27432" anchor="ctr">
                    <a:solidFill>
                      <a:srgbClr val="FFFFFF"/>
                    </a:solidFill>
                  </a:tcPr>
                </a:tc>
                <a:extLst>
                  <a:ext uri="{0D108BD9-81ED-4DB2-BD59-A6C34878D82A}">
                    <a16:rowId xmlns:a16="http://schemas.microsoft.com/office/drawing/2014/main" val="10003"/>
                  </a:ext>
                </a:extLst>
              </a:tr>
              <a:tr h="421640">
                <a:tc>
                  <a:txBody>
                    <a:bodyPr/>
                    <a:lstStyle/>
                    <a:p>
                      <a:pPr>
                        <a:defRPr sz="1000" b="0">
                          <a:solidFill>
                            <a:srgbClr val="243447"/>
                          </a:solidFill>
                          <a:latin typeface="Aptos"/>
                        </a:defRPr>
                      </a:pPr>
                      <a:r>
                        <a:t>Tables</a:t>
                      </a:r>
                    </a:p>
                  </a:txBody>
                  <a:tcPr marL="45720" marR="45720" marT="27432" marB="27432" anchor="ctr">
                    <a:solidFill>
                      <a:srgbClr val="FFFFFF"/>
                    </a:solidFill>
                  </a:tcPr>
                </a:tc>
                <a:tc>
                  <a:txBody>
                    <a:bodyPr/>
                    <a:lstStyle/>
                    <a:p>
                      <a:pPr>
                        <a:defRPr sz="1000" b="0">
                          <a:solidFill>
                            <a:srgbClr val="243447"/>
                          </a:solidFill>
                          <a:latin typeface="Aptos"/>
                        </a:defRPr>
                      </a:pPr>
                      <a:r>
                        <a:t>$206,966</a:t>
                      </a:r>
                    </a:p>
                  </a:txBody>
                  <a:tcPr marL="45720" marR="45720" marT="27432" marB="27432" anchor="ctr">
                    <a:solidFill>
                      <a:srgbClr val="FFFFFF"/>
                    </a:solidFill>
                  </a:tcPr>
                </a:tc>
                <a:tc>
                  <a:txBody>
                    <a:bodyPr/>
                    <a:lstStyle/>
                    <a:p>
                      <a:pPr>
                        <a:defRPr sz="1000" b="0">
                          <a:solidFill>
                            <a:srgbClr val="243447"/>
                          </a:solidFill>
                          <a:latin typeface="Aptos"/>
                        </a:defRPr>
                      </a:pPr>
                      <a:r>
                        <a:t>$-17,726</a:t>
                      </a:r>
                    </a:p>
                  </a:txBody>
                  <a:tcPr marL="45720" marR="45720" marT="27432" marB="27432" anchor="ctr">
                    <a:solidFill>
                      <a:srgbClr val="FFFFFF"/>
                    </a:solidFill>
                  </a:tcPr>
                </a:tc>
                <a:extLst>
                  <a:ext uri="{0D108BD9-81ED-4DB2-BD59-A6C34878D82A}">
                    <a16:rowId xmlns:a16="http://schemas.microsoft.com/office/drawing/2014/main" val="10004"/>
                  </a:ext>
                </a:extLst>
              </a:tr>
              <a:tr h="421640">
                <a:tc>
                  <a:txBody>
                    <a:bodyPr/>
                    <a:lstStyle/>
                    <a:p>
                      <a:pPr>
                        <a:defRPr sz="1000" b="0">
                          <a:solidFill>
                            <a:srgbClr val="243447"/>
                          </a:solidFill>
                          <a:latin typeface="Aptos"/>
                        </a:defRPr>
                      </a:pPr>
                      <a:r>
                        <a:t>Binders</a:t>
                      </a:r>
                    </a:p>
                  </a:txBody>
                  <a:tcPr marL="45720" marR="45720" marT="27432" marB="27432" anchor="ctr">
                    <a:solidFill>
                      <a:srgbClr val="FFFFFF"/>
                    </a:solidFill>
                  </a:tcPr>
                </a:tc>
                <a:tc>
                  <a:txBody>
                    <a:bodyPr/>
                    <a:lstStyle/>
                    <a:p>
                      <a:pPr>
                        <a:defRPr sz="1000" b="0">
                          <a:solidFill>
                            <a:srgbClr val="243447"/>
                          </a:solidFill>
                          <a:latin typeface="Aptos"/>
                        </a:defRPr>
                      </a:pPr>
                      <a:r>
                        <a:t>$203,413</a:t>
                      </a:r>
                    </a:p>
                  </a:txBody>
                  <a:tcPr marL="45720" marR="45720" marT="27432" marB="27432" anchor="ctr">
                    <a:solidFill>
                      <a:srgbClr val="FFFFFF"/>
                    </a:solidFill>
                  </a:tcPr>
                </a:tc>
                <a:tc>
                  <a:txBody>
                    <a:bodyPr/>
                    <a:lstStyle/>
                    <a:p>
                      <a:pPr>
                        <a:defRPr sz="1000" b="0">
                          <a:solidFill>
                            <a:srgbClr val="243447"/>
                          </a:solidFill>
                          <a:latin typeface="Aptos"/>
                        </a:defRPr>
                      </a:pPr>
                      <a:r>
                        <a:t>$30,222</a:t>
                      </a:r>
                    </a:p>
                  </a:txBody>
                  <a:tcPr marL="45720" marR="45720" marT="27432" marB="27432" anchor="ctr">
                    <a:solidFill>
                      <a:srgbClr val="FFFFFF"/>
                    </a:solidFill>
                  </a:tcPr>
                </a:tc>
                <a:extLst>
                  <a:ext uri="{0D108BD9-81ED-4DB2-BD59-A6C34878D82A}">
                    <a16:rowId xmlns:a16="http://schemas.microsoft.com/office/drawing/2014/main" val="10005"/>
                  </a:ext>
                </a:extLst>
              </a:tr>
              <a:tr h="421640">
                <a:tc>
                  <a:txBody>
                    <a:bodyPr/>
                    <a:lstStyle/>
                    <a:p>
                      <a:pPr>
                        <a:defRPr sz="1000" b="0">
                          <a:solidFill>
                            <a:srgbClr val="243447"/>
                          </a:solidFill>
                          <a:latin typeface="Aptos"/>
                        </a:defRPr>
                      </a:pPr>
                      <a:r>
                        <a:t>Machines</a:t>
                      </a:r>
                    </a:p>
                  </a:txBody>
                  <a:tcPr marL="45720" marR="45720" marT="27432" marB="27432" anchor="ctr">
                    <a:solidFill>
                      <a:srgbClr val="FFFFFF"/>
                    </a:solidFill>
                  </a:tcPr>
                </a:tc>
                <a:tc>
                  <a:txBody>
                    <a:bodyPr/>
                    <a:lstStyle/>
                    <a:p>
                      <a:pPr>
                        <a:defRPr sz="1000" b="0">
                          <a:solidFill>
                            <a:srgbClr val="243447"/>
                          </a:solidFill>
                          <a:latin typeface="Aptos"/>
                        </a:defRPr>
                      </a:pPr>
                      <a:r>
                        <a:t>$189,239</a:t>
                      </a:r>
                    </a:p>
                  </a:txBody>
                  <a:tcPr marL="45720" marR="45720" marT="27432" marB="27432" anchor="ctr">
                    <a:solidFill>
                      <a:srgbClr val="FFFFFF"/>
                    </a:solidFill>
                  </a:tcPr>
                </a:tc>
                <a:tc>
                  <a:txBody>
                    <a:bodyPr/>
                    <a:lstStyle/>
                    <a:p>
                      <a:pPr>
                        <a:defRPr sz="1000" b="0">
                          <a:solidFill>
                            <a:srgbClr val="243447"/>
                          </a:solidFill>
                          <a:latin typeface="Aptos"/>
                        </a:defRPr>
                      </a:pPr>
                      <a:r>
                        <a:t>$3,385</a:t>
                      </a:r>
                    </a:p>
                  </a:txBody>
                  <a:tcPr marL="45720" marR="45720" marT="27432" marB="27432" anchor="ctr">
                    <a:solidFill>
                      <a:srgbClr val="FFFFFF"/>
                    </a:solidFill>
                  </a:tcPr>
                </a:tc>
                <a:extLst>
                  <a:ext uri="{0D108BD9-81ED-4DB2-BD59-A6C34878D82A}">
                    <a16:rowId xmlns:a16="http://schemas.microsoft.com/office/drawing/2014/main" val="10006"/>
                  </a:ext>
                </a:extLst>
              </a:tr>
              <a:tr h="421640">
                <a:tc>
                  <a:txBody>
                    <a:bodyPr/>
                    <a:lstStyle/>
                    <a:p>
                      <a:pPr>
                        <a:defRPr sz="1000" b="0">
                          <a:solidFill>
                            <a:srgbClr val="243447"/>
                          </a:solidFill>
                          <a:latin typeface="Aptos"/>
                        </a:defRPr>
                      </a:pPr>
                      <a:r>
                        <a:t>Accessories</a:t>
                      </a:r>
                    </a:p>
                  </a:txBody>
                  <a:tcPr marL="45720" marR="45720" marT="27432" marB="27432" anchor="ctr">
                    <a:solidFill>
                      <a:srgbClr val="FFFFFF"/>
                    </a:solidFill>
                  </a:tcPr>
                </a:tc>
                <a:tc>
                  <a:txBody>
                    <a:bodyPr/>
                    <a:lstStyle/>
                    <a:p>
                      <a:pPr>
                        <a:defRPr sz="1000" b="0">
                          <a:solidFill>
                            <a:srgbClr val="243447"/>
                          </a:solidFill>
                          <a:latin typeface="Aptos"/>
                        </a:defRPr>
                      </a:pPr>
                      <a:r>
                        <a:t>$167,380</a:t>
                      </a:r>
                    </a:p>
                  </a:txBody>
                  <a:tcPr marL="45720" marR="45720" marT="27432" marB="27432" anchor="ctr">
                    <a:solidFill>
                      <a:srgbClr val="FFFFFF"/>
                    </a:solidFill>
                  </a:tcPr>
                </a:tc>
                <a:tc>
                  <a:txBody>
                    <a:bodyPr/>
                    <a:lstStyle/>
                    <a:p>
                      <a:pPr>
                        <a:defRPr sz="1000" b="0">
                          <a:solidFill>
                            <a:srgbClr val="243447"/>
                          </a:solidFill>
                          <a:latin typeface="Aptos"/>
                        </a:defRPr>
                      </a:pPr>
                      <a:r>
                        <a:t>$41,937</a:t>
                      </a:r>
                    </a:p>
                  </a:txBody>
                  <a:tcPr marL="45720" marR="45720" marT="27432" marB="27432" anchor="ctr">
                    <a:solidFill>
                      <a:srgbClr val="FFFFFF"/>
                    </a:solidFill>
                  </a:tcPr>
                </a:tc>
                <a:extLst>
                  <a:ext uri="{0D108BD9-81ED-4DB2-BD59-A6C34878D82A}">
                    <a16:rowId xmlns:a16="http://schemas.microsoft.com/office/drawing/2014/main" val="10007"/>
                  </a:ext>
                </a:extLst>
              </a:tr>
              <a:tr h="421640">
                <a:tc>
                  <a:txBody>
                    <a:bodyPr/>
                    <a:lstStyle/>
                    <a:p>
                      <a:pPr>
                        <a:defRPr sz="1000" b="0">
                          <a:solidFill>
                            <a:srgbClr val="243447"/>
                          </a:solidFill>
                          <a:latin typeface="Aptos"/>
                        </a:defRPr>
                      </a:pPr>
                      <a:r>
                        <a:t>Copiers</a:t>
                      </a:r>
                    </a:p>
                  </a:txBody>
                  <a:tcPr marL="45720" marR="45720" marT="27432" marB="27432" anchor="ctr">
                    <a:solidFill>
                      <a:srgbClr val="FFFFFF"/>
                    </a:solidFill>
                  </a:tcPr>
                </a:tc>
                <a:tc>
                  <a:txBody>
                    <a:bodyPr/>
                    <a:lstStyle/>
                    <a:p>
                      <a:pPr>
                        <a:defRPr sz="1000" b="0">
                          <a:solidFill>
                            <a:srgbClr val="243447"/>
                          </a:solidFill>
                          <a:latin typeface="Aptos"/>
                        </a:defRPr>
                      </a:pPr>
                      <a:r>
                        <a:t>$149,528</a:t>
                      </a:r>
                    </a:p>
                  </a:txBody>
                  <a:tcPr marL="45720" marR="45720" marT="27432" marB="27432" anchor="ctr">
                    <a:solidFill>
                      <a:srgbClr val="FFFFFF"/>
                    </a:solidFill>
                  </a:tcPr>
                </a:tc>
                <a:tc>
                  <a:txBody>
                    <a:bodyPr/>
                    <a:lstStyle/>
                    <a:p>
                      <a:pPr>
                        <a:defRPr sz="1000" b="0">
                          <a:solidFill>
                            <a:srgbClr val="243447"/>
                          </a:solidFill>
                          <a:latin typeface="Aptos"/>
                        </a:defRPr>
                      </a:pPr>
                      <a:r>
                        <a:t>$55,618</a:t>
                      </a:r>
                    </a:p>
                  </a:txBody>
                  <a:tcPr marL="45720" marR="45720" marT="27432" marB="27432" anchor="ctr">
                    <a:solidFill>
                      <a:srgbClr val="FFFFFF"/>
                    </a:solidFill>
                  </a:tcPr>
                </a:tc>
                <a:extLst>
                  <a:ext uri="{0D108BD9-81ED-4DB2-BD59-A6C34878D82A}">
                    <a16:rowId xmlns:a16="http://schemas.microsoft.com/office/drawing/2014/main" val="10008"/>
                  </a:ext>
                </a:extLst>
              </a:tr>
            </a:tbl>
          </a:graphicData>
        </a:graphic>
      </p:graphicFrame>
      <p:sp>
        <p:nvSpPr>
          <p:cNvPr id="10" name="TextBox 9"/>
          <p:cNvSpPr txBox="1"/>
          <p:nvPr/>
        </p:nvSpPr>
        <p:spPr>
          <a:xfrm>
            <a:off x="731520" y="5897880"/>
            <a:ext cx="10515600" cy="320040"/>
          </a:xfrm>
          <a:prstGeom prst="rect">
            <a:avLst/>
          </a:prstGeom>
          <a:noFill/>
        </p:spPr>
        <p:txBody>
          <a:bodyPr wrap="none" lIns="36576" tIns="36576" rIns="36576" bIns="36576" anchor="t">
            <a:spAutoFit/>
          </a:bodyPr>
          <a:lstStyle/>
          <a:p>
            <a:pPr algn="l"/>
            <a:r>
              <a:rPr sz="1000" b="1">
                <a:solidFill>
                  <a:srgbClr val="243447"/>
                </a:solidFill>
                <a:latin typeface="Aptos"/>
              </a:rPr>
              <a:t>Phones lead sub-category sales at $330,007; Copiers and Accessories also show strong profit contribution.</a:t>
            </a:r>
          </a:p>
        </p:txBody>
      </p:sp>
      <p:sp>
        <p:nvSpPr>
          <p:cNvPr id="11" name="Rounded Rectangle 10"/>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Sub-category analysis gives a more detailed view than the three main categories. Phones and Chairs have the highest sales among the displayed sub-categories. Copiers and Accessories are also important because their profit contribution is strong relative to their sales, showing that high sales volume and high profitability are not always the same thing.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Dashboard — Management View</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One-page view of the most important commercial signals.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15</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Rounded Rectangle 7"/>
          <p:cNvSpPr/>
          <p:nvPr/>
        </p:nvSpPr>
        <p:spPr>
          <a:xfrm>
            <a:off x="594360" y="1371600"/>
            <a:ext cx="2560320" cy="1234440"/>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0664" y="1490472"/>
            <a:ext cx="2267712" cy="201168"/>
          </a:xfrm>
          <a:prstGeom prst="rect">
            <a:avLst/>
          </a:prstGeom>
          <a:noFill/>
        </p:spPr>
        <p:txBody>
          <a:bodyPr wrap="none" lIns="36576" tIns="36576" rIns="36576" bIns="36576" anchor="t">
            <a:spAutoFit/>
          </a:bodyPr>
          <a:lstStyle/>
          <a:p>
            <a:pPr algn="l"/>
            <a:r>
              <a:rPr sz="900" b="1">
                <a:solidFill>
                  <a:srgbClr val="FFFFFF"/>
                </a:solidFill>
                <a:latin typeface="Aptos"/>
              </a:rPr>
              <a:t>SALES</a:t>
            </a:r>
          </a:p>
        </p:txBody>
      </p:sp>
      <p:sp>
        <p:nvSpPr>
          <p:cNvPr id="10" name="TextBox 9"/>
          <p:cNvSpPr txBox="1"/>
          <p:nvPr/>
        </p:nvSpPr>
        <p:spPr>
          <a:xfrm>
            <a:off x="740664" y="1783080"/>
            <a:ext cx="2267712" cy="475488"/>
          </a:xfrm>
          <a:prstGeom prst="rect">
            <a:avLst/>
          </a:prstGeom>
          <a:noFill/>
        </p:spPr>
        <p:txBody>
          <a:bodyPr wrap="none" lIns="36576" tIns="36576" rIns="36576" bIns="36576" anchor="t">
            <a:spAutoFit/>
          </a:bodyPr>
          <a:lstStyle/>
          <a:p>
            <a:pPr algn="l"/>
            <a:r>
              <a:rPr sz="2200" b="1">
                <a:solidFill>
                  <a:srgbClr val="FFFFFF"/>
                </a:solidFill>
                <a:latin typeface="Aptos Display"/>
              </a:rPr>
              <a:t>$2,296,920</a:t>
            </a:r>
          </a:p>
        </p:txBody>
      </p:sp>
      <p:sp>
        <p:nvSpPr>
          <p:cNvPr id="11" name="TextBox 10"/>
          <p:cNvSpPr txBox="1"/>
          <p:nvPr/>
        </p:nvSpPr>
        <p:spPr>
          <a:xfrm>
            <a:off x="740664" y="2331720"/>
            <a:ext cx="2267712" cy="256032"/>
          </a:xfrm>
          <a:prstGeom prst="rect">
            <a:avLst/>
          </a:prstGeom>
          <a:noFill/>
        </p:spPr>
        <p:txBody>
          <a:bodyPr wrap="none" lIns="36576" tIns="36576" rIns="36576" bIns="36576" anchor="t">
            <a:spAutoFit/>
          </a:bodyPr>
          <a:lstStyle/>
          <a:p>
            <a:pPr algn="l"/>
            <a:r>
              <a:rPr sz="850" b="0">
                <a:solidFill>
                  <a:srgbClr val="FFFFFF"/>
                </a:solidFill>
                <a:latin typeface="Aptos"/>
              </a:rPr>
              <a:t>Total sales</a:t>
            </a:r>
          </a:p>
        </p:txBody>
      </p:sp>
      <p:sp>
        <p:nvSpPr>
          <p:cNvPr id="12" name="Rounded Rectangle 11"/>
          <p:cNvSpPr/>
          <p:nvPr/>
        </p:nvSpPr>
        <p:spPr>
          <a:xfrm>
            <a:off x="3337560" y="1371600"/>
            <a:ext cx="2560320" cy="1234440"/>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83864" y="1490472"/>
            <a:ext cx="2267712" cy="201168"/>
          </a:xfrm>
          <a:prstGeom prst="rect">
            <a:avLst/>
          </a:prstGeom>
          <a:noFill/>
        </p:spPr>
        <p:txBody>
          <a:bodyPr wrap="none" lIns="36576" tIns="36576" rIns="36576" bIns="36576" anchor="t">
            <a:spAutoFit/>
          </a:bodyPr>
          <a:lstStyle/>
          <a:p>
            <a:pPr algn="l"/>
            <a:r>
              <a:rPr sz="900" b="1">
                <a:solidFill>
                  <a:srgbClr val="FFFFFF"/>
                </a:solidFill>
                <a:latin typeface="Aptos"/>
              </a:rPr>
              <a:t>PROFIT</a:t>
            </a:r>
          </a:p>
        </p:txBody>
      </p:sp>
      <p:sp>
        <p:nvSpPr>
          <p:cNvPr id="14" name="TextBox 13"/>
          <p:cNvSpPr txBox="1"/>
          <p:nvPr/>
        </p:nvSpPr>
        <p:spPr>
          <a:xfrm>
            <a:off x="3483864" y="1783080"/>
            <a:ext cx="2267712" cy="475488"/>
          </a:xfrm>
          <a:prstGeom prst="rect">
            <a:avLst/>
          </a:prstGeom>
          <a:noFill/>
        </p:spPr>
        <p:txBody>
          <a:bodyPr wrap="none" lIns="36576" tIns="36576" rIns="36576" bIns="36576" anchor="t">
            <a:spAutoFit/>
          </a:bodyPr>
          <a:lstStyle/>
          <a:p>
            <a:pPr algn="l"/>
            <a:r>
              <a:rPr sz="2200" b="1">
                <a:solidFill>
                  <a:srgbClr val="FFFFFF"/>
                </a:solidFill>
                <a:latin typeface="Aptos Display"/>
              </a:rPr>
              <a:t>$286,410</a:t>
            </a:r>
          </a:p>
        </p:txBody>
      </p:sp>
      <p:sp>
        <p:nvSpPr>
          <p:cNvPr id="15" name="TextBox 14"/>
          <p:cNvSpPr txBox="1"/>
          <p:nvPr/>
        </p:nvSpPr>
        <p:spPr>
          <a:xfrm>
            <a:off x="3483864" y="2331720"/>
            <a:ext cx="2267712" cy="256032"/>
          </a:xfrm>
          <a:prstGeom prst="rect">
            <a:avLst/>
          </a:prstGeom>
          <a:noFill/>
        </p:spPr>
        <p:txBody>
          <a:bodyPr wrap="none" lIns="36576" tIns="36576" rIns="36576" bIns="36576" anchor="t">
            <a:spAutoFit/>
          </a:bodyPr>
          <a:lstStyle/>
          <a:p>
            <a:pPr algn="l"/>
            <a:r>
              <a:rPr sz="850" b="0">
                <a:solidFill>
                  <a:srgbClr val="FFFFFF"/>
                </a:solidFill>
                <a:latin typeface="Aptos"/>
              </a:rPr>
              <a:t>12.5% margin</a:t>
            </a:r>
          </a:p>
        </p:txBody>
      </p:sp>
      <p:sp>
        <p:nvSpPr>
          <p:cNvPr id="16" name="Rounded Rectangle 15"/>
          <p:cNvSpPr/>
          <p:nvPr/>
        </p:nvSpPr>
        <p:spPr>
          <a:xfrm>
            <a:off x="6080760" y="1371600"/>
            <a:ext cx="2560320" cy="1234440"/>
          </a:xfrm>
          <a:prstGeom prst="roundRect">
            <a:avLst/>
          </a:prstGeom>
          <a:solidFill>
            <a:srgbClr val="F28E2B"/>
          </a:solidFill>
          <a:ln>
            <a:solidFill>
              <a:srgbClr val="F28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27064" y="1490472"/>
            <a:ext cx="2267712" cy="201168"/>
          </a:xfrm>
          <a:prstGeom prst="rect">
            <a:avLst/>
          </a:prstGeom>
          <a:noFill/>
        </p:spPr>
        <p:txBody>
          <a:bodyPr wrap="none" lIns="36576" tIns="36576" rIns="36576" bIns="36576" anchor="t">
            <a:spAutoFit/>
          </a:bodyPr>
          <a:lstStyle/>
          <a:p>
            <a:pPr algn="l"/>
            <a:r>
              <a:rPr sz="900" b="1">
                <a:solidFill>
                  <a:srgbClr val="FFFFFF"/>
                </a:solidFill>
                <a:latin typeface="Aptos"/>
              </a:rPr>
              <a:t>ORDERS</a:t>
            </a:r>
          </a:p>
        </p:txBody>
      </p:sp>
      <p:sp>
        <p:nvSpPr>
          <p:cNvPr id="18" name="TextBox 17"/>
          <p:cNvSpPr txBox="1"/>
          <p:nvPr/>
        </p:nvSpPr>
        <p:spPr>
          <a:xfrm>
            <a:off x="6227064" y="1783080"/>
            <a:ext cx="2267712" cy="475488"/>
          </a:xfrm>
          <a:prstGeom prst="rect">
            <a:avLst/>
          </a:prstGeom>
          <a:noFill/>
        </p:spPr>
        <p:txBody>
          <a:bodyPr wrap="none" lIns="36576" tIns="36576" rIns="36576" bIns="36576" anchor="t">
            <a:spAutoFit/>
          </a:bodyPr>
          <a:lstStyle/>
          <a:p>
            <a:pPr algn="l"/>
            <a:r>
              <a:rPr sz="2200" b="1">
                <a:solidFill>
                  <a:srgbClr val="FFFFFF"/>
                </a:solidFill>
                <a:latin typeface="Aptos Display"/>
              </a:rPr>
              <a:t>9,993</a:t>
            </a:r>
          </a:p>
        </p:txBody>
      </p:sp>
      <p:sp>
        <p:nvSpPr>
          <p:cNvPr id="19" name="TextBox 18"/>
          <p:cNvSpPr txBox="1"/>
          <p:nvPr/>
        </p:nvSpPr>
        <p:spPr>
          <a:xfrm>
            <a:off x="6227064" y="2331720"/>
            <a:ext cx="2267712" cy="256032"/>
          </a:xfrm>
          <a:prstGeom prst="rect">
            <a:avLst/>
          </a:prstGeom>
          <a:noFill/>
        </p:spPr>
        <p:txBody>
          <a:bodyPr wrap="none" lIns="36576" tIns="36576" rIns="36576" bIns="36576" anchor="t">
            <a:spAutoFit/>
          </a:bodyPr>
          <a:lstStyle/>
          <a:p>
            <a:pPr algn="l"/>
            <a:r>
              <a:rPr sz="850" b="0">
                <a:solidFill>
                  <a:srgbClr val="FFFFFF"/>
                </a:solidFill>
                <a:latin typeface="Aptos"/>
              </a:rPr>
              <a:t>Transactions</a:t>
            </a:r>
          </a:p>
        </p:txBody>
      </p:sp>
      <p:sp>
        <p:nvSpPr>
          <p:cNvPr id="20" name="Rounded Rectangle 19"/>
          <p:cNvSpPr/>
          <p:nvPr/>
        </p:nvSpPr>
        <p:spPr>
          <a:xfrm>
            <a:off x="8823960" y="1371600"/>
            <a:ext cx="2560320" cy="1234440"/>
          </a:xfrm>
          <a:prstGeom prst="roundRect">
            <a:avLst/>
          </a:prstGeom>
          <a:solidFill>
            <a:srgbClr val="234A73"/>
          </a:solidFill>
          <a:ln>
            <a:solidFill>
              <a:srgbClr val="23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70264" y="1490472"/>
            <a:ext cx="2267712" cy="201168"/>
          </a:xfrm>
          <a:prstGeom prst="rect">
            <a:avLst/>
          </a:prstGeom>
          <a:noFill/>
        </p:spPr>
        <p:txBody>
          <a:bodyPr wrap="none" lIns="36576" tIns="36576" rIns="36576" bIns="36576" anchor="t">
            <a:spAutoFit/>
          </a:bodyPr>
          <a:lstStyle/>
          <a:p>
            <a:pPr algn="l"/>
            <a:r>
              <a:rPr sz="900" b="1">
                <a:solidFill>
                  <a:srgbClr val="FFFFFF"/>
                </a:solidFill>
                <a:latin typeface="Aptos"/>
              </a:rPr>
              <a:t>AOV</a:t>
            </a:r>
          </a:p>
        </p:txBody>
      </p:sp>
      <p:sp>
        <p:nvSpPr>
          <p:cNvPr id="22" name="TextBox 21"/>
          <p:cNvSpPr txBox="1"/>
          <p:nvPr/>
        </p:nvSpPr>
        <p:spPr>
          <a:xfrm>
            <a:off x="8970264" y="1783080"/>
            <a:ext cx="2267712" cy="475488"/>
          </a:xfrm>
          <a:prstGeom prst="rect">
            <a:avLst/>
          </a:prstGeom>
          <a:noFill/>
        </p:spPr>
        <p:txBody>
          <a:bodyPr wrap="none" lIns="36576" tIns="36576" rIns="36576" bIns="36576" anchor="t">
            <a:spAutoFit/>
          </a:bodyPr>
          <a:lstStyle/>
          <a:p>
            <a:pPr algn="l"/>
            <a:r>
              <a:rPr sz="2200" b="1">
                <a:solidFill>
                  <a:srgbClr val="FFFFFF"/>
                </a:solidFill>
                <a:latin typeface="Aptos Display"/>
              </a:rPr>
              <a:t>$230</a:t>
            </a:r>
          </a:p>
        </p:txBody>
      </p:sp>
      <p:sp>
        <p:nvSpPr>
          <p:cNvPr id="23" name="TextBox 22"/>
          <p:cNvSpPr txBox="1"/>
          <p:nvPr/>
        </p:nvSpPr>
        <p:spPr>
          <a:xfrm>
            <a:off x="8970264" y="2331720"/>
            <a:ext cx="2267712" cy="256032"/>
          </a:xfrm>
          <a:prstGeom prst="rect">
            <a:avLst/>
          </a:prstGeom>
          <a:noFill/>
        </p:spPr>
        <p:txBody>
          <a:bodyPr wrap="none" lIns="36576" tIns="36576" rIns="36576" bIns="36576" anchor="t">
            <a:spAutoFit/>
          </a:bodyPr>
          <a:lstStyle/>
          <a:p>
            <a:pPr algn="l"/>
            <a:r>
              <a:rPr sz="850" b="0">
                <a:solidFill>
                  <a:srgbClr val="FFFFFF"/>
                </a:solidFill>
                <a:latin typeface="Aptos"/>
              </a:rPr>
              <a:t>Sales per order</a:t>
            </a:r>
          </a:p>
        </p:txBody>
      </p:sp>
      <p:graphicFrame>
        <p:nvGraphicFramePr>
          <p:cNvPr id="24" name="Chart 23"/>
          <p:cNvGraphicFramePr>
            <a:graphicFrameLocks noGrp="1"/>
          </p:cNvGraphicFramePr>
          <p:nvPr/>
        </p:nvGraphicFramePr>
        <p:xfrm>
          <a:off x="594360" y="2926080"/>
          <a:ext cx="5486400" cy="28803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5" name="Chart 24"/>
          <p:cNvGraphicFramePr>
            <a:graphicFrameLocks noGrp="1"/>
          </p:cNvGraphicFramePr>
          <p:nvPr/>
        </p:nvGraphicFramePr>
        <p:xfrm>
          <a:off x="6309360" y="2926080"/>
          <a:ext cx="512064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26" name="Rounded Rectangle 25"/>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This is the management view of the complete analysis. The four KPI cards give an immediate summary, while the charts show the sales trend and category contribution. A manager can use this page first to understand the overall situation and then move to the detailed analysis slides.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Recommendations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Priority actions for revenue, profitability and customer growth.</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16</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731520" y="1371600"/>
            <a:ext cx="457200" cy="320040"/>
          </a:xfrm>
          <a:prstGeom prst="rect">
            <a:avLst/>
          </a:prstGeom>
          <a:noFill/>
        </p:spPr>
        <p:txBody>
          <a:bodyPr wrap="none" lIns="36576" tIns="36576" rIns="36576" bIns="36576" anchor="t">
            <a:spAutoFit/>
          </a:bodyPr>
          <a:lstStyle/>
          <a:p>
            <a:pPr algn="l"/>
            <a:r>
              <a:rPr sz="1100" b="1">
                <a:solidFill>
                  <a:srgbClr val="1F9E9A"/>
                </a:solidFill>
                <a:latin typeface="Aptos"/>
              </a:rPr>
              <a:t>01</a:t>
            </a:r>
          </a:p>
        </p:txBody>
      </p:sp>
      <p:sp>
        <p:nvSpPr>
          <p:cNvPr id="9" name="TextBox 8"/>
          <p:cNvSpPr txBox="1"/>
          <p:nvPr/>
        </p:nvSpPr>
        <p:spPr>
          <a:xfrm>
            <a:off x="1325880" y="135331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Protect growth engines</a:t>
            </a:r>
          </a:p>
        </p:txBody>
      </p:sp>
      <p:sp>
        <p:nvSpPr>
          <p:cNvPr id="10" name="TextBox 9"/>
          <p:cNvSpPr txBox="1"/>
          <p:nvPr/>
        </p:nvSpPr>
        <p:spPr>
          <a:xfrm>
            <a:off x="3703320" y="135331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Maintain momentum in Technology and the strongest states while preserving service levels.</a:t>
            </a:r>
          </a:p>
        </p:txBody>
      </p:sp>
      <p:sp>
        <p:nvSpPr>
          <p:cNvPr id="11" name="Rounded Rectangle 10"/>
          <p:cNvSpPr/>
          <p:nvPr/>
        </p:nvSpPr>
        <p:spPr>
          <a:xfrm>
            <a:off x="10241280" y="1344168"/>
            <a:ext cx="1188720" cy="347472"/>
          </a:xfrm>
          <a:prstGeom prst="roundRect">
            <a:avLst/>
          </a:prstGeom>
          <a:solidFill>
            <a:srgbClr val="1F9E9A"/>
          </a:solidFill>
          <a:ln>
            <a:solidFill>
              <a:srgbClr val="1F9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241280" y="136245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Growth</a:t>
            </a:r>
          </a:p>
        </p:txBody>
      </p:sp>
      <p:sp>
        <p:nvSpPr>
          <p:cNvPr id="13" name="TextBox 12"/>
          <p:cNvSpPr txBox="1"/>
          <p:nvPr/>
        </p:nvSpPr>
        <p:spPr>
          <a:xfrm>
            <a:off x="731520" y="2331720"/>
            <a:ext cx="457200" cy="320040"/>
          </a:xfrm>
          <a:prstGeom prst="rect">
            <a:avLst/>
          </a:prstGeom>
          <a:noFill/>
        </p:spPr>
        <p:txBody>
          <a:bodyPr wrap="none" lIns="36576" tIns="36576" rIns="36576" bIns="36576" anchor="t">
            <a:spAutoFit/>
          </a:bodyPr>
          <a:lstStyle/>
          <a:p>
            <a:pPr algn="l"/>
            <a:r>
              <a:rPr sz="1100" b="1">
                <a:solidFill>
                  <a:srgbClr val="F28E2B"/>
                </a:solidFill>
                <a:latin typeface="Aptos"/>
              </a:rPr>
              <a:t>02</a:t>
            </a:r>
          </a:p>
        </p:txBody>
      </p:sp>
      <p:sp>
        <p:nvSpPr>
          <p:cNvPr id="14" name="TextBox 13"/>
          <p:cNvSpPr txBox="1"/>
          <p:nvPr/>
        </p:nvSpPr>
        <p:spPr>
          <a:xfrm>
            <a:off x="1325880" y="231343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Improve furniture economics</a:t>
            </a:r>
          </a:p>
        </p:txBody>
      </p:sp>
      <p:sp>
        <p:nvSpPr>
          <p:cNvPr id="15" name="TextBox 14"/>
          <p:cNvSpPr txBox="1"/>
          <p:nvPr/>
        </p:nvSpPr>
        <p:spPr>
          <a:xfrm>
            <a:off x="3703320" y="231343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Review pricing, discounting, product mix and loss-making sub-categories.</a:t>
            </a:r>
          </a:p>
        </p:txBody>
      </p:sp>
      <p:sp>
        <p:nvSpPr>
          <p:cNvPr id="16" name="Rounded Rectangle 15"/>
          <p:cNvSpPr/>
          <p:nvPr/>
        </p:nvSpPr>
        <p:spPr>
          <a:xfrm>
            <a:off x="10241280" y="2304288"/>
            <a:ext cx="1188720" cy="347472"/>
          </a:xfrm>
          <a:prstGeom prst="roundRect">
            <a:avLst/>
          </a:prstGeom>
          <a:solidFill>
            <a:srgbClr val="F28E2B"/>
          </a:solidFill>
          <a:ln>
            <a:solidFill>
              <a:srgbClr val="F28E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241280" y="232257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Profitability</a:t>
            </a:r>
          </a:p>
        </p:txBody>
      </p:sp>
      <p:sp>
        <p:nvSpPr>
          <p:cNvPr id="18" name="TextBox 17"/>
          <p:cNvSpPr txBox="1"/>
          <p:nvPr/>
        </p:nvSpPr>
        <p:spPr>
          <a:xfrm>
            <a:off x="731520" y="3291840"/>
            <a:ext cx="457200" cy="320040"/>
          </a:xfrm>
          <a:prstGeom prst="rect">
            <a:avLst/>
          </a:prstGeom>
          <a:noFill/>
        </p:spPr>
        <p:txBody>
          <a:bodyPr wrap="none" lIns="36576" tIns="36576" rIns="36576" bIns="36576" anchor="t">
            <a:spAutoFit/>
          </a:bodyPr>
          <a:lstStyle/>
          <a:p>
            <a:pPr algn="l"/>
            <a:r>
              <a:rPr sz="1100" b="1">
                <a:solidFill>
                  <a:srgbClr val="70AD47"/>
                </a:solidFill>
                <a:latin typeface="Aptos"/>
              </a:rPr>
              <a:t>03</a:t>
            </a:r>
          </a:p>
        </p:txBody>
      </p:sp>
      <p:sp>
        <p:nvSpPr>
          <p:cNvPr id="19" name="TextBox 18"/>
          <p:cNvSpPr txBox="1"/>
          <p:nvPr/>
        </p:nvSpPr>
        <p:spPr>
          <a:xfrm>
            <a:off x="1325880" y="327355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Strengthen customer retention</a:t>
            </a:r>
          </a:p>
        </p:txBody>
      </p:sp>
      <p:sp>
        <p:nvSpPr>
          <p:cNvPr id="20" name="TextBox 19"/>
          <p:cNvSpPr txBox="1"/>
          <p:nvPr/>
        </p:nvSpPr>
        <p:spPr>
          <a:xfrm>
            <a:off x="3703320" y="327355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Use high-value customer patterns for targeted retention, cross-sell and repeat purchases.</a:t>
            </a:r>
          </a:p>
        </p:txBody>
      </p:sp>
      <p:sp>
        <p:nvSpPr>
          <p:cNvPr id="21" name="Rounded Rectangle 20"/>
          <p:cNvSpPr/>
          <p:nvPr/>
        </p:nvSpPr>
        <p:spPr>
          <a:xfrm>
            <a:off x="10241280" y="3264408"/>
            <a:ext cx="1188720" cy="347472"/>
          </a:xfrm>
          <a:prstGeom prst="round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241280" y="328269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CRM</a:t>
            </a:r>
          </a:p>
        </p:txBody>
      </p:sp>
      <p:sp>
        <p:nvSpPr>
          <p:cNvPr id="23" name="TextBox 22"/>
          <p:cNvSpPr txBox="1"/>
          <p:nvPr/>
        </p:nvSpPr>
        <p:spPr>
          <a:xfrm>
            <a:off x="731520" y="4251960"/>
            <a:ext cx="457200" cy="320040"/>
          </a:xfrm>
          <a:prstGeom prst="rect">
            <a:avLst/>
          </a:prstGeom>
          <a:noFill/>
        </p:spPr>
        <p:txBody>
          <a:bodyPr wrap="none" lIns="36576" tIns="36576" rIns="36576" bIns="36576" anchor="t">
            <a:spAutoFit/>
          </a:bodyPr>
          <a:lstStyle/>
          <a:p>
            <a:pPr algn="l"/>
            <a:r>
              <a:rPr sz="1100" b="1">
                <a:solidFill>
                  <a:srgbClr val="234A73"/>
                </a:solidFill>
                <a:latin typeface="Aptos"/>
              </a:rPr>
              <a:t>04</a:t>
            </a:r>
          </a:p>
        </p:txBody>
      </p:sp>
      <p:sp>
        <p:nvSpPr>
          <p:cNvPr id="24" name="TextBox 23"/>
          <p:cNvSpPr txBox="1"/>
          <p:nvPr/>
        </p:nvSpPr>
        <p:spPr>
          <a:xfrm>
            <a:off x="1325880" y="423367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Manage loss-making markets</a:t>
            </a:r>
          </a:p>
        </p:txBody>
      </p:sp>
      <p:sp>
        <p:nvSpPr>
          <p:cNvPr id="25" name="TextBox 24"/>
          <p:cNvSpPr txBox="1"/>
          <p:nvPr/>
        </p:nvSpPr>
        <p:spPr>
          <a:xfrm>
            <a:off x="3703320" y="423367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Review states with negative profit and identify product, pricing or fulfillment drivers.</a:t>
            </a:r>
          </a:p>
        </p:txBody>
      </p:sp>
      <p:sp>
        <p:nvSpPr>
          <p:cNvPr id="26" name="Rounded Rectangle 25"/>
          <p:cNvSpPr/>
          <p:nvPr/>
        </p:nvSpPr>
        <p:spPr>
          <a:xfrm>
            <a:off x="10241280" y="4224528"/>
            <a:ext cx="1188720" cy="347472"/>
          </a:xfrm>
          <a:prstGeom prst="roundRect">
            <a:avLst/>
          </a:prstGeom>
          <a:solidFill>
            <a:srgbClr val="234A73"/>
          </a:solidFill>
          <a:ln>
            <a:solidFill>
              <a:srgbClr val="234A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0241280" y="424281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Operations</a:t>
            </a:r>
          </a:p>
        </p:txBody>
      </p:sp>
      <p:sp>
        <p:nvSpPr>
          <p:cNvPr id="28" name="TextBox 27"/>
          <p:cNvSpPr txBox="1"/>
          <p:nvPr/>
        </p:nvSpPr>
        <p:spPr>
          <a:xfrm>
            <a:off x="731520" y="5212080"/>
            <a:ext cx="457200" cy="320040"/>
          </a:xfrm>
          <a:prstGeom prst="rect">
            <a:avLst/>
          </a:prstGeom>
          <a:noFill/>
        </p:spPr>
        <p:txBody>
          <a:bodyPr wrap="none" lIns="36576" tIns="36576" rIns="36576" bIns="36576" anchor="t">
            <a:spAutoFit/>
          </a:bodyPr>
          <a:lstStyle/>
          <a:p>
            <a:pPr algn="l"/>
            <a:r>
              <a:rPr sz="1100" b="1">
                <a:solidFill>
                  <a:srgbClr val="17365D"/>
                </a:solidFill>
                <a:latin typeface="Aptos"/>
              </a:rPr>
              <a:t>05</a:t>
            </a:r>
          </a:p>
        </p:txBody>
      </p:sp>
      <p:sp>
        <p:nvSpPr>
          <p:cNvPr id="29" name="TextBox 28"/>
          <p:cNvSpPr txBox="1"/>
          <p:nvPr/>
        </p:nvSpPr>
        <p:spPr>
          <a:xfrm>
            <a:off x="1325880" y="5193792"/>
            <a:ext cx="2423160" cy="320040"/>
          </a:xfrm>
          <a:prstGeom prst="rect">
            <a:avLst/>
          </a:prstGeom>
          <a:noFill/>
        </p:spPr>
        <p:txBody>
          <a:bodyPr wrap="none" lIns="36576" tIns="36576" rIns="36576" bIns="36576" anchor="t">
            <a:spAutoFit/>
          </a:bodyPr>
          <a:lstStyle/>
          <a:p>
            <a:pPr algn="l"/>
            <a:r>
              <a:rPr sz="1300" b="1">
                <a:solidFill>
                  <a:srgbClr val="243447"/>
                </a:solidFill>
                <a:latin typeface="Aptos"/>
              </a:rPr>
              <a:t>Use monthly seasonality</a:t>
            </a:r>
          </a:p>
        </p:txBody>
      </p:sp>
      <p:sp>
        <p:nvSpPr>
          <p:cNvPr id="30" name="TextBox 29"/>
          <p:cNvSpPr txBox="1"/>
          <p:nvPr/>
        </p:nvSpPr>
        <p:spPr>
          <a:xfrm>
            <a:off x="3703320" y="5193792"/>
            <a:ext cx="6309360" cy="502920"/>
          </a:xfrm>
          <a:prstGeom prst="rect">
            <a:avLst/>
          </a:prstGeom>
          <a:noFill/>
        </p:spPr>
        <p:txBody>
          <a:bodyPr wrap="none" lIns="36576" tIns="36576" rIns="36576" bIns="36576" anchor="t">
            <a:spAutoFit/>
          </a:bodyPr>
          <a:lstStyle/>
          <a:p>
            <a:pPr algn="l"/>
            <a:r>
              <a:rPr sz="1100" b="0">
                <a:solidFill>
                  <a:srgbClr val="67707E"/>
                </a:solidFill>
                <a:latin typeface="Aptos"/>
              </a:rPr>
              <a:t>Plan inventory and commercial campaigns around the strongest sales months.</a:t>
            </a:r>
          </a:p>
        </p:txBody>
      </p:sp>
      <p:sp>
        <p:nvSpPr>
          <p:cNvPr id="31" name="Rounded Rectangle 30"/>
          <p:cNvSpPr/>
          <p:nvPr/>
        </p:nvSpPr>
        <p:spPr>
          <a:xfrm>
            <a:off x="10241280" y="5184648"/>
            <a:ext cx="1188720" cy="347472"/>
          </a:xfrm>
          <a:prstGeom prst="roundRect">
            <a:avLst/>
          </a:prstGeom>
          <a:solidFill>
            <a:srgbClr val="17365D"/>
          </a:solidFill>
          <a:ln>
            <a:solidFill>
              <a:srgbClr val="17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241280" y="5202936"/>
            <a:ext cx="1188720" cy="228600"/>
          </a:xfrm>
          <a:prstGeom prst="rect">
            <a:avLst/>
          </a:prstGeom>
          <a:noFill/>
        </p:spPr>
        <p:txBody>
          <a:bodyPr wrap="none" lIns="36576" tIns="36576" rIns="36576" bIns="36576" anchor="t">
            <a:spAutoFit/>
          </a:bodyPr>
          <a:lstStyle/>
          <a:p>
            <a:pPr algn="ctr"/>
            <a:r>
              <a:rPr sz="850" b="1">
                <a:solidFill>
                  <a:srgbClr val="FFFFFF"/>
                </a:solidFill>
                <a:latin typeface="Aptos"/>
              </a:rPr>
              <a:t>Planning</a:t>
            </a:r>
          </a:p>
        </p:txBody>
      </p:sp>
      <p:sp>
        <p:nvSpPr>
          <p:cNvPr id="33" name="Rounded Rectangle 32"/>
          <p:cNvSpPr/>
          <p:nvPr/>
        </p:nvSpPr>
        <p:spPr>
          <a:xfrm>
            <a:off x="658368" y="5772150"/>
            <a:ext cx="10881360" cy="518922"/>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Based on the analysis, the recommendations focus on five areas. The business should protect its strongest categories and states, improve Furniture profitability, retain high-value customers, investigate markets with negative profit, and use monthly sales patterns for planning. These recommendations are directly connected to the patterns identified in the dashboard.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Conclusion</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Overall interpretation of the sales dashboard analysis.</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17</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822960" y="1463040"/>
            <a:ext cx="10241280" cy="4389120"/>
          </a:xfrm>
          <a:prstGeom prst="rect">
            <a:avLst/>
          </a:prstGeom>
          <a:noFill/>
        </p:spPr>
        <p:txBody>
          <a:bodyPr wrap="square">
            <a:spAutoFit/>
          </a:bodyPr>
          <a:lstStyle/>
          <a:p>
            <a:pPr>
              <a:spcAft>
                <a:spcPts val="800"/>
              </a:spcAft>
              <a:defRPr sz="1600">
                <a:solidFill>
                  <a:srgbClr val="243447"/>
                </a:solidFill>
                <a:latin typeface="Aptos"/>
              </a:defRPr>
            </a:pPr>
            <a:r>
              <a:t>• The workbook contains 9,993 sales records across 793 customers and 37,871 units.</a:t>
            </a:r>
          </a:p>
          <a:p>
            <a:pPr>
              <a:spcAft>
                <a:spcPts val="800"/>
              </a:spcAft>
              <a:defRPr sz="1600">
                <a:solidFill>
                  <a:srgbClr val="243447"/>
                </a:solidFill>
                <a:latin typeface="Aptos"/>
              </a:defRPr>
            </a:pPr>
            <a:r>
              <a:t>• Total sales are $2,296,920, with $286,410 profit and an average order value of $230.</a:t>
            </a:r>
          </a:p>
          <a:p>
            <a:pPr>
              <a:spcAft>
                <a:spcPts val="800"/>
              </a:spcAft>
              <a:defRPr sz="1600">
                <a:solidFill>
                  <a:srgbClr val="243447"/>
                </a:solidFill>
                <a:latin typeface="Aptos"/>
              </a:defRPr>
            </a:pPr>
            <a:r>
              <a:t>• Technology is the strongest category by sales and profitability, while Furniture has a much thinner profit contribution.</a:t>
            </a:r>
          </a:p>
          <a:p>
            <a:pPr>
              <a:spcAft>
                <a:spcPts val="800"/>
              </a:spcAft>
              <a:defRPr sz="1600">
                <a:solidFill>
                  <a:srgbClr val="243447"/>
                </a:solidFill>
                <a:latin typeface="Aptos"/>
              </a:defRPr>
            </a:pPr>
            <a:r>
              <a:t>• State performance is concentrated in a small number of markets, with New Delhi and Bihar among the largest contributors.</a:t>
            </a:r>
          </a:p>
          <a:p>
            <a:pPr>
              <a:spcAft>
                <a:spcPts val="800"/>
              </a:spcAft>
              <a:defRPr sz="1600">
                <a:solidFill>
                  <a:srgbClr val="243447"/>
                </a:solidFill>
                <a:latin typeface="Aptos"/>
              </a:defRPr>
            </a:pPr>
            <a:r>
              <a:t>• The dashboard can support ongoing management decisions by refreshing the underlying Sales Data.</a:t>
            </a:r>
          </a:p>
        </p:txBody>
      </p:sp>
      <p:sp>
        <p:nvSpPr>
          <p:cNvPr id="9" name="Rounded Rectangle 8"/>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Overall, the project shows a strong sales base with $2.30 million in sales and about $286 thousand in profit. Technology is the strongest major category, while some states and sub-categories require profitability attention. The dashboard provides a practical way to monitor performance and support management decisions.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Future Scope</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Ways to extend the dashboard for more advanced decision support.</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18</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sp>
        <p:nvSpPr>
          <p:cNvPr id="8" name="TextBox 7"/>
          <p:cNvSpPr txBox="1"/>
          <p:nvPr/>
        </p:nvSpPr>
        <p:spPr>
          <a:xfrm>
            <a:off x="822960" y="1463040"/>
            <a:ext cx="10241280" cy="4480560"/>
          </a:xfrm>
          <a:prstGeom prst="rect">
            <a:avLst/>
          </a:prstGeom>
          <a:noFill/>
        </p:spPr>
        <p:txBody>
          <a:bodyPr wrap="square">
            <a:spAutoFit/>
          </a:bodyPr>
          <a:lstStyle/>
          <a:p>
            <a:pPr>
              <a:spcAft>
                <a:spcPts val="800"/>
              </a:spcAft>
              <a:defRPr sz="1500">
                <a:solidFill>
                  <a:srgbClr val="243447"/>
                </a:solidFill>
                <a:latin typeface="Aptos"/>
              </a:defRPr>
            </a:pPr>
            <a:r>
              <a:t>• Automate workbook refresh so KPIs and charts update when new transactions are added.</a:t>
            </a:r>
          </a:p>
          <a:p>
            <a:pPr>
              <a:spcAft>
                <a:spcPts val="800"/>
              </a:spcAft>
              <a:defRPr sz="1500">
                <a:solidFill>
                  <a:srgbClr val="243447"/>
                </a:solidFill>
                <a:latin typeface="Aptos"/>
              </a:defRPr>
            </a:pPr>
            <a:r>
              <a:t>• Add customer lifetime value, cohort retention and repeat-purchase analysis.</a:t>
            </a:r>
          </a:p>
          <a:p>
            <a:pPr>
              <a:spcAft>
                <a:spcPts val="800"/>
              </a:spcAft>
              <a:defRPr sz="1500">
                <a:solidFill>
                  <a:srgbClr val="243447"/>
                </a:solidFill>
                <a:latin typeface="Aptos"/>
              </a:defRPr>
            </a:pPr>
            <a:r>
              <a:t>• Introduce discount-efficiency and contribution-margin measures when additional cost fields are available.</a:t>
            </a:r>
          </a:p>
          <a:p>
            <a:pPr>
              <a:spcAft>
                <a:spcPts val="800"/>
              </a:spcAft>
              <a:defRPr sz="1500">
                <a:solidFill>
                  <a:srgbClr val="243447"/>
                </a:solidFill>
                <a:latin typeface="Aptos"/>
              </a:defRPr>
            </a:pPr>
            <a:r>
              <a:t>• Add state, category and product drill-downs for more granular analysis.</a:t>
            </a:r>
          </a:p>
          <a:p>
            <a:pPr>
              <a:spcAft>
                <a:spcPts val="800"/>
              </a:spcAft>
              <a:defRPr sz="1500">
                <a:solidFill>
                  <a:srgbClr val="243447"/>
                </a:solidFill>
                <a:latin typeface="Aptos"/>
              </a:defRPr>
            </a:pPr>
            <a:r>
              <a:t>• Build sales and profit forecasting using a longer historical time series.</a:t>
            </a:r>
          </a:p>
          <a:p>
            <a:pPr>
              <a:spcAft>
                <a:spcPts val="800"/>
              </a:spcAft>
              <a:defRPr sz="1500">
                <a:solidFill>
                  <a:srgbClr val="243447"/>
                </a:solidFill>
                <a:latin typeface="Aptos"/>
              </a:defRPr>
            </a:pPr>
            <a:r>
              <a:t>• Connect the Excel model to Power BI for interactive executive reporting.</a:t>
            </a:r>
          </a:p>
        </p:txBody>
      </p:sp>
      <p:sp>
        <p:nvSpPr>
          <p:cNvPr id="9" name="Rounded Rectangle 8"/>
          <p:cNvSpPr/>
          <p:nvPr/>
        </p:nvSpPr>
        <p:spPr>
          <a:xfrm>
            <a:off x="658368" y="550468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lang="en-US" sz="869" b="1" dirty="0">
                <a:solidFill>
                  <a:srgbClr val="243447"/>
                </a:solidFill>
                <a:latin typeface="Aptos"/>
              </a:rPr>
              <a:t>T</a:t>
            </a:r>
            <a:r>
              <a:rPr sz="869" dirty="0">
                <a:solidFill>
                  <a:srgbClr val="243447"/>
                </a:solidFill>
                <a:latin typeface="Aptos"/>
              </a:rPr>
              <a:t>he dashboard can be extended as more data becomes available. Possible improvements include automated refresh, customer lifetime value, cohort analysis, forecasting, and detailed drill-downs. Connecting the Excel model to Power BI would also allow a more interactive management reporting system.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424160" cy="438912"/>
          </a:xfrm>
          <a:prstGeom prst="rect">
            <a:avLst/>
          </a:prstGeom>
          <a:noFill/>
        </p:spPr>
        <p:txBody>
          <a:bodyPr wrap="none" lIns="36576" tIns="36576" rIns="36576" bIns="36576" anchor="t">
            <a:spAutoFit/>
          </a:bodyPr>
          <a:lstStyle/>
          <a:p>
            <a:pPr algn="l"/>
            <a:r>
              <a:rPr sz="2500" b="1">
                <a:solidFill>
                  <a:srgbClr val="243447"/>
                </a:solidFill>
                <a:latin typeface="Aptos Display"/>
              </a:rPr>
              <a:t>Data Source &amp; Definitions</a:t>
            </a:r>
          </a:p>
        </p:txBody>
      </p:sp>
      <p:sp>
        <p:nvSpPr>
          <p:cNvPr id="4" name="TextBox 3"/>
          <p:cNvSpPr txBox="1"/>
          <p:nvPr/>
        </p:nvSpPr>
        <p:spPr>
          <a:xfrm>
            <a:off x="594360" y="777240"/>
            <a:ext cx="10607040" cy="292608"/>
          </a:xfrm>
          <a:prstGeom prst="rect">
            <a:avLst/>
          </a:prstGeom>
          <a:noFill/>
        </p:spPr>
        <p:txBody>
          <a:bodyPr wrap="none" lIns="36576" tIns="36576" rIns="36576" bIns="36576" anchor="t">
            <a:spAutoFit/>
          </a:bodyPr>
          <a:lstStyle/>
          <a:p>
            <a:pPr algn="l"/>
            <a:r>
              <a:rPr sz="1050" b="0">
                <a:solidFill>
                  <a:srgbClr val="67707E"/>
                </a:solidFill>
                <a:latin typeface="Aptos"/>
              </a:rPr>
              <a:t>Calculation definitions used throughout the presentation.</a:t>
            </a:r>
          </a:p>
        </p:txBody>
      </p:sp>
      <p:sp>
        <p:nvSpPr>
          <p:cNvPr id="5" name="TextBox 4"/>
          <p:cNvSpPr txBox="1"/>
          <p:nvPr/>
        </p:nvSpPr>
        <p:spPr>
          <a:xfrm>
            <a:off x="11109960" y="384048"/>
            <a:ext cx="502920" cy="274320"/>
          </a:xfrm>
          <a:prstGeom prst="rect">
            <a:avLst/>
          </a:prstGeom>
          <a:noFill/>
        </p:spPr>
        <p:txBody>
          <a:bodyPr wrap="none" lIns="36576" tIns="36576" rIns="36576" bIns="36576" anchor="t">
            <a:spAutoFit/>
          </a:bodyPr>
          <a:lstStyle/>
          <a:p>
            <a:pPr algn="r"/>
            <a:r>
              <a:rPr sz="1000" b="0">
                <a:solidFill>
                  <a:srgbClr val="67707E"/>
                </a:solidFill>
                <a:latin typeface="Aptos"/>
              </a:rPr>
              <a:t>19</a:t>
            </a:r>
          </a:p>
        </p:txBody>
      </p:sp>
      <p:sp>
        <p:nvSpPr>
          <p:cNvPr id="6" name="Rectangle 5"/>
          <p:cNvSpPr/>
          <p:nvPr/>
        </p:nvSpPr>
        <p:spPr>
          <a:xfrm>
            <a:off x="594360" y="1143000"/>
            <a:ext cx="109728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4360" y="6510528"/>
            <a:ext cx="9601200" cy="182880"/>
          </a:xfrm>
          <a:prstGeom prst="rect">
            <a:avLst/>
          </a:prstGeom>
          <a:noFill/>
        </p:spPr>
        <p:txBody>
          <a:bodyPr wrap="none" lIns="36576" tIns="36576" rIns="36576" bIns="36576" anchor="t">
            <a:spAutoFit/>
          </a:bodyPr>
          <a:lstStyle/>
          <a:p>
            <a:pPr algn="l"/>
            <a:r>
              <a:rPr sz="850" b="0">
                <a:solidFill>
                  <a:srgbClr val="67707E"/>
                </a:solidFill>
                <a:latin typeface="Aptos"/>
              </a:rPr>
              <a:t>Sales Dashboard Project | Source: provided Sales Dashboard workbook</a:t>
            </a:r>
          </a:p>
        </p:txBody>
      </p:sp>
      <p:graphicFrame>
        <p:nvGraphicFramePr>
          <p:cNvPr id="8" name="Table 7"/>
          <p:cNvGraphicFramePr>
            <a:graphicFrameLocks noGrp="1"/>
          </p:cNvGraphicFramePr>
          <p:nvPr/>
        </p:nvGraphicFramePr>
        <p:xfrm>
          <a:off x="822960" y="1371600"/>
          <a:ext cx="10424160" cy="45262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502920">
                <a:tc>
                  <a:txBody>
                    <a:bodyPr/>
                    <a:lstStyle/>
                    <a:p>
                      <a:pPr>
                        <a:defRPr sz="1100" b="1">
                          <a:solidFill>
                            <a:srgbClr val="FFFFFF"/>
                          </a:solidFill>
                          <a:latin typeface="Aptos"/>
                        </a:defRPr>
                      </a:pPr>
                      <a:r>
                        <a:t>Metric</a:t>
                      </a:r>
                    </a:p>
                  </a:txBody>
                  <a:tcPr marL="45720" marR="45720" marT="27432" marB="27432" anchor="ctr">
                    <a:solidFill>
                      <a:srgbClr val="17365D"/>
                    </a:solidFill>
                  </a:tcPr>
                </a:tc>
                <a:tc>
                  <a:txBody>
                    <a:bodyPr/>
                    <a:lstStyle/>
                    <a:p>
                      <a:pPr>
                        <a:defRPr sz="1100" b="1">
                          <a:solidFill>
                            <a:srgbClr val="FFFFFF"/>
                          </a:solidFill>
                          <a:latin typeface="Aptos"/>
                        </a:defRPr>
                      </a:pPr>
                      <a:r>
                        <a:t>Definition</a:t>
                      </a:r>
                    </a:p>
                  </a:txBody>
                  <a:tcPr marL="45720" marR="45720" marT="27432" marB="27432" anchor="ctr">
                    <a:solidFill>
                      <a:srgbClr val="17365D"/>
                    </a:solidFill>
                  </a:tcPr>
                </a:tc>
                <a:extLst>
                  <a:ext uri="{0D108BD9-81ED-4DB2-BD59-A6C34878D82A}">
                    <a16:rowId xmlns:a16="http://schemas.microsoft.com/office/drawing/2014/main" val="10000"/>
                  </a:ext>
                </a:extLst>
              </a:tr>
              <a:tr h="502920">
                <a:tc>
                  <a:txBody>
                    <a:bodyPr/>
                    <a:lstStyle/>
                    <a:p>
                      <a:pPr>
                        <a:defRPr sz="1100" b="0">
                          <a:solidFill>
                            <a:srgbClr val="243447"/>
                          </a:solidFill>
                          <a:latin typeface="Aptos"/>
                        </a:defRPr>
                      </a:pPr>
                      <a:r>
                        <a:t>Sales</a:t>
                      </a:r>
                    </a:p>
                  </a:txBody>
                  <a:tcPr marL="45720" marR="45720" marT="27432" marB="27432" anchor="ctr">
                    <a:solidFill>
                      <a:srgbClr val="FFFFFF"/>
                    </a:solidFill>
                  </a:tcPr>
                </a:tc>
                <a:tc>
                  <a:txBody>
                    <a:bodyPr/>
                    <a:lstStyle/>
                    <a:p>
                      <a:pPr>
                        <a:defRPr sz="1100" b="0">
                          <a:solidFill>
                            <a:srgbClr val="243447"/>
                          </a:solidFill>
                          <a:latin typeface="Aptos"/>
                        </a:defRPr>
                      </a:pPr>
                      <a:r>
                        <a:t>Sum of Sales from the Sales Data sheet</a:t>
                      </a:r>
                    </a:p>
                  </a:txBody>
                  <a:tcPr marL="45720" marR="45720" marT="27432" marB="27432" anchor="ctr">
                    <a:solidFill>
                      <a:srgbClr val="FFFFFF"/>
                    </a:solidFill>
                  </a:tcPr>
                </a:tc>
                <a:extLst>
                  <a:ext uri="{0D108BD9-81ED-4DB2-BD59-A6C34878D82A}">
                    <a16:rowId xmlns:a16="http://schemas.microsoft.com/office/drawing/2014/main" val="10001"/>
                  </a:ext>
                </a:extLst>
              </a:tr>
              <a:tr h="502920">
                <a:tc>
                  <a:txBody>
                    <a:bodyPr/>
                    <a:lstStyle/>
                    <a:p>
                      <a:pPr>
                        <a:defRPr sz="1100" b="0">
                          <a:solidFill>
                            <a:srgbClr val="243447"/>
                          </a:solidFill>
                          <a:latin typeface="Aptos"/>
                        </a:defRPr>
                      </a:pPr>
                      <a:r>
                        <a:t>Profit</a:t>
                      </a:r>
                    </a:p>
                  </a:txBody>
                  <a:tcPr marL="45720" marR="45720" marT="27432" marB="27432" anchor="ctr">
                    <a:solidFill>
                      <a:srgbClr val="FFFFFF"/>
                    </a:solidFill>
                  </a:tcPr>
                </a:tc>
                <a:tc>
                  <a:txBody>
                    <a:bodyPr/>
                    <a:lstStyle/>
                    <a:p>
                      <a:pPr>
                        <a:defRPr sz="1100" b="0">
                          <a:solidFill>
                            <a:srgbClr val="243447"/>
                          </a:solidFill>
                          <a:latin typeface="Aptos"/>
                        </a:defRPr>
                      </a:pPr>
                      <a:r>
                        <a:t>Sum of Profit from the Sales Data sheet</a:t>
                      </a:r>
                    </a:p>
                  </a:txBody>
                  <a:tcPr marL="45720" marR="45720" marT="27432" marB="27432" anchor="ctr">
                    <a:solidFill>
                      <a:srgbClr val="FFFFFF"/>
                    </a:solidFill>
                  </a:tcPr>
                </a:tc>
                <a:extLst>
                  <a:ext uri="{0D108BD9-81ED-4DB2-BD59-A6C34878D82A}">
                    <a16:rowId xmlns:a16="http://schemas.microsoft.com/office/drawing/2014/main" val="10002"/>
                  </a:ext>
                </a:extLst>
              </a:tr>
              <a:tr h="502920">
                <a:tc>
                  <a:txBody>
                    <a:bodyPr/>
                    <a:lstStyle/>
                    <a:p>
                      <a:pPr>
                        <a:defRPr sz="1100" b="0">
                          <a:solidFill>
                            <a:srgbClr val="243447"/>
                          </a:solidFill>
                          <a:latin typeface="Aptos"/>
                        </a:defRPr>
                      </a:pPr>
                      <a:r>
                        <a:t>Orders</a:t>
                      </a:r>
                    </a:p>
                  </a:txBody>
                  <a:tcPr marL="45720" marR="45720" marT="27432" marB="27432" anchor="ctr">
                    <a:solidFill>
                      <a:srgbClr val="FFFFFF"/>
                    </a:solidFill>
                  </a:tcPr>
                </a:tc>
                <a:tc>
                  <a:txBody>
                    <a:bodyPr/>
                    <a:lstStyle/>
                    <a:p>
                      <a:pPr>
                        <a:defRPr sz="1100" b="0">
                          <a:solidFill>
                            <a:srgbClr val="243447"/>
                          </a:solidFill>
                          <a:latin typeface="Aptos"/>
                        </a:defRPr>
                      </a:pPr>
                      <a:r>
                        <a:t>Count of transaction records</a:t>
                      </a:r>
                    </a:p>
                  </a:txBody>
                  <a:tcPr marL="45720" marR="45720" marT="27432" marB="27432" anchor="ctr">
                    <a:solidFill>
                      <a:srgbClr val="FFFFFF"/>
                    </a:solidFill>
                  </a:tcPr>
                </a:tc>
                <a:extLst>
                  <a:ext uri="{0D108BD9-81ED-4DB2-BD59-A6C34878D82A}">
                    <a16:rowId xmlns:a16="http://schemas.microsoft.com/office/drawing/2014/main" val="10003"/>
                  </a:ext>
                </a:extLst>
              </a:tr>
              <a:tr h="502920">
                <a:tc>
                  <a:txBody>
                    <a:bodyPr/>
                    <a:lstStyle/>
                    <a:p>
                      <a:pPr>
                        <a:defRPr sz="1100" b="0">
                          <a:solidFill>
                            <a:srgbClr val="243447"/>
                          </a:solidFill>
                          <a:latin typeface="Aptos"/>
                        </a:defRPr>
                      </a:pPr>
                      <a:r>
                        <a:t>Customers</a:t>
                      </a:r>
                    </a:p>
                  </a:txBody>
                  <a:tcPr marL="45720" marR="45720" marT="27432" marB="27432" anchor="ctr">
                    <a:solidFill>
                      <a:srgbClr val="FFFFFF"/>
                    </a:solidFill>
                  </a:tcPr>
                </a:tc>
                <a:tc>
                  <a:txBody>
                    <a:bodyPr/>
                    <a:lstStyle/>
                    <a:p>
                      <a:pPr>
                        <a:defRPr sz="1100" b="0">
                          <a:solidFill>
                            <a:srgbClr val="243447"/>
                          </a:solidFill>
                          <a:latin typeface="Aptos"/>
                        </a:defRPr>
                      </a:pPr>
                      <a:r>
                        <a:t>Unique Customer Name count</a:t>
                      </a:r>
                    </a:p>
                  </a:txBody>
                  <a:tcPr marL="45720" marR="45720" marT="27432" marB="27432" anchor="ctr">
                    <a:solidFill>
                      <a:srgbClr val="FFFFFF"/>
                    </a:solidFill>
                  </a:tcPr>
                </a:tc>
                <a:extLst>
                  <a:ext uri="{0D108BD9-81ED-4DB2-BD59-A6C34878D82A}">
                    <a16:rowId xmlns:a16="http://schemas.microsoft.com/office/drawing/2014/main" val="10004"/>
                  </a:ext>
                </a:extLst>
              </a:tr>
              <a:tr h="502920">
                <a:tc>
                  <a:txBody>
                    <a:bodyPr/>
                    <a:lstStyle/>
                    <a:p>
                      <a:pPr>
                        <a:defRPr sz="1100" b="0">
                          <a:solidFill>
                            <a:srgbClr val="243447"/>
                          </a:solidFill>
                          <a:latin typeface="Aptos"/>
                        </a:defRPr>
                      </a:pPr>
                      <a:r>
                        <a:t>Units Sold</a:t>
                      </a:r>
                    </a:p>
                  </a:txBody>
                  <a:tcPr marL="45720" marR="45720" marT="27432" marB="27432" anchor="ctr">
                    <a:solidFill>
                      <a:srgbClr val="FFFFFF"/>
                    </a:solidFill>
                  </a:tcPr>
                </a:tc>
                <a:tc>
                  <a:txBody>
                    <a:bodyPr/>
                    <a:lstStyle/>
                    <a:p>
                      <a:pPr>
                        <a:defRPr sz="1100" b="0">
                          <a:solidFill>
                            <a:srgbClr val="243447"/>
                          </a:solidFill>
                          <a:latin typeface="Aptos"/>
                        </a:defRPr>
                      </a:pPr>
                      <a:r>
                        <a:t>Sum of Quantity</a:t>
                      </a:r>
                    </a:p>
                  </a:txBody>
                  <a:tcPr marL="45720" marR="45720" marT="27432" marB="27432" anchor="ctr">
                    <a:solidFill>
                      <a:srgbClr val="FFFFFF"/>
                    </a:solidFill>
                  </a:tcPr>
                </a:tc>
                <a:extLst>
                  <a:ext uri="{0D108BD9-81ED-4DB2-BD59-A6C34878D82A}">
                    <a16:rowId xmlns:a16="http://schemas.microsoft.com/office/drawing/2014/main" val="10005"/>
                  </a:ext>
                </a:extLst>
              </a:tr>
              <a:tr h="502920">
                <a:tc>
                  <a:txBody>
                    <a:bodyPr/>
                    <a:lstStyle/>
                    <a:p>
                      <a:pPr>
                        <a:defRPr sz="1100" b="0">
                          <a:solidFill>
                            <a:srgbClr val="243447"/>
                          </a:solidFill>
                          <a:latin typeface="Aptos"/>
                        </a:defRPr>
                      </a:pPr>
                      <a:r>
                        <a:t>Average Order Value</a:t>
                      </a:r>
                    </a:p>
                  </a:txBody>
                  <a:tcPr marL="45720" marR="45720" marT="27432" marB="27432" anchor="ctr">
                    <a:solidFill>
                      <a:srgbClr val="FFFFFF"/>
                    </a:solidFill>
                  </a:tcPr>
                </a:tc>
                <a:tc>
                  <a:txBody>
                    <a:bodyPr/>
                    <a:lstStyle/>
                    <a:p>
                      <a:pPr>
                        <a:defRPr sz="1100" b="0">
                          <a:solidFill>
                            <a:srgbClr val="243447"/>
                          </a:solidFill>
                          <a:latin typeface="Aptos"/>
                        </a:defRPr>
                      </a:pPr>
                      <a:r>
                        <a:t>Total Sales ÷ total orders</a:t>
                      </a:r>
                    </a:p>
                  </a:txBody>
                  <a:tcPr marL="45720" marR="45720" marT="27432" marB="27432" anchor="ctr">
                    <a:solidFill>
                      <a:srgbClr val="FFFFFF"/>
                    </a:solidFill>
                  </a:tcPr>
                </a:tc>
                <a:extLst>
                  <a:ext uri="{0D108BD9-81ED-4DB2-BD59-A6C34878D82A}">
                    <a16:rowId xmlns:a16="http://schemas.microsoft.com/office/drawing/2014/main" val="10006"/>
                  </a:ext>
                </a:extLst>
              </a:tr>
              <a:tr h="502920">
                <a:tc>
                  <a:txBody>
                    <a:bodyPr/>
                    <a:lstStyle/>
                    <a:p>
                      <a:pPr>
                        <a:defRPr sz="1100" b="0">
                          <a:solidFill>
                            <a:srgbClr val="243447"/>
                          </a:solidFill>
                          <a:latin typeface="Aptos"/>
                        </a:defRPr>
                      </a:pPr>
                      <a:r>
                        <a:t>Profit Margin</a:t>
                      </a:r>
                    </a:p>
                  </a:txBody>
                  <a:tcPr marL="45720" marR="45720" marT="27432" marB="27432" anchor="ctr">
                    <a:solidFill>
                      <a:srgbClr val="FFFFFF"/>
                    </a:solidFill>
                  </a:tcPr>
                </a:tc>
                <a:tc>
                  <a:txBody>
                    <a:bodyPr/>
                    <a:lstStyle/>
                    <a:p>
                      <a:pPr>
                        <a:defRPr sz="1100" b="0">
                          <a:solidFill>
                            <a:srgbClr val="243447"/>
                          </a:solidFill>
                          <a:latin typeface="Aptos"/>
                        </a:defRPr>
                      </a:pPr>
                      <a:r>
                        <a:t>Total Profit ÷ Total Sales</a:t>
                      </a:r>
                    </a:p>
                  </a:txBody>
                  <a:tcPr marL="45720" marR="45720" marT="27432" marB="27432" anchor="ctr">
                    <a:solidFill>
                      <a:srgbClr val="FFFFFF"/>
                    </a:solidFill>
                  </a:tcPr>
                </a:tc>
                <a:extLst>
                  <a:ext uri="{0D108BD9-81ED-4DB2-BD59-A6C34878D82A}">
                    <a16:rowId xmlns:a16="http://schemas.microsoft.com/office/drawing/2014/main" val="10007"/>
                  </a:ext>
                </a:extLst>
              </a:tr>
              <a:tr h="502920">
                <a:tc>
                  <a:txBody>
                    <a:bodyPr/>
                    <a:lstStyle/>
                    <a:p>
                      <a:pPr>
                        <a:defRPr sz="1100" b="0">
                          <a:solidFill>
                            <a:srgbClr val="243447"/>
                          </a:solidFill>
                          <a:latin typeface="Aptos"/>
                        </a:defRPr>
                      </a:pPr>
                      <a:r>
                        <a:t>Category / State Analysis</a:t>
                      </a:r>
                    </a:p>
                  </a:txBody>
                  <a:tcPr marL="45720" marR="45720" marT="27432" marB="27432" anchor="ctr">
                    <a:solidFill>
                      <a:srgbClr val="FFFFFF"/>
                    </a:solidFill>
                  </a:tcPr>
                </a:tc>
                <a:tc>
                  <a:txBody>
                    <a:bodyPr/>
                    <a:lstStyle/>
                    <a:p>
                      <a:pPr>
                        <a:defRPr sz="1100" b="0">
                          <a:solidFill>
                            <a:srgbClr val="243447"/>
                          </a:solidFill>
                          <a:latin typeface="Aptos"/>
                        </a:defRPr>
                      </a:pPr>
                      <a:r>
                        <a:t>Grouped Sales and Profit totals by field</a:t>
                      </a:r>
                    </a:p>
                  </a:txBody>
                  <a:tcPr marL="45720" marR="45720" marT="27432" marB="27432" anchor="ctr">
                    <a:solidFill>
                      <a:srgbClr val="FFFFFF"/>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822960" y="6080760"/>
            <a:ext cx="10424160" cy="320040"/>
          </a:xfrm>
          <a:prstGeom prst="rect">
            <a:avLst/>
          </a:prstGeom>
          <a:noFill/>
        </p:spPr>
        <p:txBody>
          <a:bodyPr wrap="none" lIns="36576" tIns="36576" rIns="36576" bIns="36576" anchor="t">
            <a:spAutoFit/>
          </a:bodyPr>
          <a:lstStyle/>
          <a:p>
            <a:pPr algn="l"/>
            <a:r>
              <a:rPr sz="950" b="0">
                <a:solidFill>
                  <a:srgbClr val="67707E"/>
                </a:solidFill>
                <a:latin typeface="Aptos"/>
              </a:rPr>
              <a:t>Primary source: supplied Sales Dashboard workbook, Sales Data sheet. All findings in this presentation are derived from that data.</a:t>
            </a:r>
          </a:p>
        </p:txBody>
      </p:sp>
      <p:sp>
        <p:nvSpPr>
          <p:cNvPr id="10" name="Rounded Rectangle 9"/>
          <p:cNvSpPr/>
          <p:nvPr/>
        </p:nvSpPr>
        <p:spPr>
          <a:xfrm>
            <a:off x="685800" y="5497068"/>
            <a:ext cx="10881360" cy="786384"/>
          </a:xfrm>
          <a:prstGeom prst="roundRect">
            <a:avLst/>
          </a:prstGeom>
          <a:solidFill>
            <a:srgbClr val="F8FAFC"/>
          </a:solidFill>
          <a:ln>
            <a:solidFill>
              <a:srgbClr val="D9E2F3"/>
            </a:solidFill>
          </a:ln>
        </p:spPr>
        <p:style>
          <a:lnRef idx="1">
            <a:schemeClr val="accent1"/>
          </a:lnRef>
          <a:fillRef idx="3">
            <a:schemeClr val="accent1"/>
          </a:fillRef>
          <a:effectRef idx="2">
            <a:schemeClr val="accent1"/>
          </a:effectRef>
          <a:fontRef idx="minor">
            <a:schemeClr val="lt1"/>
          </a:fontRef>
        </p:style>
        <p:txBody>
          <a:bodyPr lIns="146304" tIns="64008" rIns="109728" rtlCol="0" anchor="ctr"/>
          <a:lstStyle/>
          <a:p>
            <a:pPr algn="l"/>
            <a:r>
              <a:rPr sz="900" b="1" dirty="0">
                <a:solidFill>
                  <a:srgbClr val="1F9E9A"/>
                </a:solidFill>
                <a:latin typeface="Aptos"/>
              </a:rPr>
              <a:t> </a:t>
            </a:r>
            <a:r>
              <a:rPr sz="869" dirty="0">
                <a:solidFill>
                  <a:srgbClr val="243447"/>
                </a:solidFill>
                <a:latin typeface="Aptos"/>
              </a:rPr>
              <a:t>All figures in this presentation come from the supplied Sales Data sheet. Sales and profit are calculated by summing their respective columns, orders are counted from the transaction records, customers are counted uniquely, and average order value is total sales divided by total orders. These definitions keep the KPIs consistent throughout the presentation.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7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1325880"/>
            <a:ext cx="10881360" cy="594360"/>
          </a:xfrm>
          <a:prstGeom prst="rect">
            <a:avLst/>
          </a:prstGeom>
          <a:noFill/>
        </p:spPr>
        <p:txBody>
          <a:bodyPr wrap="none" lIns="36576" tIns="36576" rIns="36576" bIns="36576" anchor="t">
            <a:spAutoFit/>
          </a:bodyPr>
          <a:lstStyle/>
          <a:p>
            <a:pPr algn="ctr"/>
            <a:r>
              <a:rPr sz="3100" b="1">
                <a:solidFill>
                  <a:srgbClr val="FFFFFF"/>
                </a:solidFill>
                <a:latin typeface="Aptos Display"/>
              </a:rPr>
              <a:t>SALES PERFORMANCE</a:t>
            </a:r>
          </a:p>
        </p:txBody>
      </p:sp>
      <p:sp>
        <p:nvSpPr>
          <p:cNvPr id="4" name="TextBox 3"/>
          <p:cNvSpPr txBox="1"/>
          <p:nvPr/>
        </p:nvSpPr>
        <p:spPr>
          <a:xfrm>
            <a:off x="658368" y="2057400"/>
            <a:ext cx="10881360" cy="594360"/>
          </a:xfrm>
          <a:prstGeom prst="rect">
            <a:avLst/>
          </a:prstGeom>
          <a:noFill/>
        </p:spPr>
        <p:txBody>
          <a:bodyPr wrap="none" lIns="36576" tIns="36576" rIns="36576" bIns="36576" anchor="t">
            <a:spAutoFit/>
          </a:bodyPr>
          <a:lstStyle/>
          <a:p>
            <a:pPr algn="ctr"/>
            <a:r>
              <a:rPr sz="2900" b="1">
                <a:solidFill>
                  <a:srgbClr val="FFFFFF"/>
                </a:solidFill>
                <a:latin typeface="Aptos"/>
              </a:rPr>
              <a:t>Thank You</a:t>
            </a:r>
          </a:p>
        </p:txBody>
      </p:sp>
      <p:sp>
        <p:nvSpPr>
          <p:cNvPr id="5" name="TextBox 4"/>
          <p:cNvSpPr txBox="1"/>
          <p:nvPr/>
        </p:nvSpPr>
        <p:spPr>
          <a:xfrm>
            <a:off x="658368" y="2880360"/>
            <a:ext cx="10881360" cy="411480"/>
          </a:xfrm>
          <a:prstGeom prst="rect">
            <a:avLst/>
          </a:prstGeom>
          <a:noFill/>
        </p:spPr>
        <p:txBody>
          <a:bodyPr wrap="none" lIns="36576" tIns="36576" rIns="36576" bIns="36576" anchor="t">
            <a:spAutoFit/>
          </a:bodyPr>
          <a:lstStyle/>
          <a:p>
            <a:pPr algn="ctr"/>
            <a:r>
              <a:rPr sz="1600" b="0">
                <a:solidFill>
                  <a:srgbClr val="D7E4EE"/>
                </a:solidFill>
                <a:latin typeface="Aptos"/>
              </a:rPr>
              <a:t>Questions &amp; Discussion</a:t>
            </a:r>
          </a:p>
        </p:txBody>
      </p:sp>
      <p:sp>
        <p:nvSpPr>
          <p:cNvPr id="6" name="TextBox 5"/>
          <p:cNvSpPr txBox="1"/>
          <p:nvPr/>
        </p:nvSpPr>
        <p:spPr>
          <a:xfrm>
            <a:off x="658368" y="3794760"/>
            <a:ext cx="10881360" cy="320040"/>
          </a:xfrm>
          <a:prstGeom prst="rect">
            <a:avLst/>
          </a:prstGeom>
          <a:noFill/>
        </p:spPr>
        <p:txBody>
          <a:bodyPr wrap="none" lIns="36576" tIns="36576" rIns="36576" bIns="36576" anchor="t">
            <a:spAutoFit/>
          </a:bodyPr>
          <a:lstStyle/>
          <a:p>
            <a:pPr algn="ctr"/>
            <a:r>
              <a:rPr sz="1100" b="0">
                <a:solidFill>
                  <a:srgbClr val="D2E1EB"/>
                </a:solidFill>
                <a:latin typeface="Aptos"/>
              </a:rPr>
              <a:t>9,993 orders • 793 customers • 37,871 units</a:t>
            </a:r>
          </a:p>
        </p:txBody>
      </p:sp>
      <p:sp>
        <p:nvSpPr>
          <p:cNvPr id="7" name="Rectangle 6"/>
          <p:cNvSpPr/>
          <p:nvPr/>
        </p:nvSpPr>
        <p:spPr>
          <a:xfrm>
            <a:off x="4709160" y="4800600"/>
            <a:ext cx="685800" cy="109728"/>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669280" y="4800600"/>
            <a:ext cx="685800" cy="109728"/>
          </a:xfrm>
          <a:prstGeom prst="rect">
            <a:avLst/>
          </a:prstGeom>
          <a:solidFill>
            <a:srgbClr val="F28E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629400" y="4800600"/>
            <a:ext cx="685800" cy="109728"/>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AF710435-22E2-4B9B-54D1-08437E9145AA}"/>
              </a:ext>
            </a:extLst>
          </p:cNvPr>
          <p:cNvPicPr>
            <a:picLocks noChangeAspect="1"/>
          </p:cNvPicPr>
          <p:nvPr/>
        </p:nvPicPr>
        <p:blipFill>
          <a:blip r:embed="rId2"/>
          <a:stretch>
            <a:fillRect/>
          </a:stretch>
        </p:blipFill>
        <p:spPr>
          <a:xfrm>
            <a:off x="10187178" y="341630"/>
            <a:ext cx="1623822" cy="9842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584</TotalTime>
  <Words>2441</Words>
  <Application>Microsoft Office PowerPoint</Application>
  <PresentationFormat>Widescreen</PresentationFormat>
  <Paragraphs>387</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Soumya Roy</dc:creator>
  <cp:keywords/>
  <dc:description>generated using python-pptx</dc:description>
  <cp:lastModifiedBy>Soumya Roy</cp:lastModifiedBy>
  <cp:revision>7</cp:revision>
  <dcterms:created xsi:type="dcterms:W3CDTF">2013-01-27T09:14:16Z</dcterms:created>
  <dcterms:modified xsi:type="dcterms:W3CDTF">2026-10-01T01:57:00Z</dcterms:modified>
  <cp:category/>
</cp:coreProperties>
</file>